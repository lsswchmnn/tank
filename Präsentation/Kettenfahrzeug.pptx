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61" r:id="rId4"/>
    <p:sldId id="266" r:id="rId5"/>
    <p:sldId id="268" r:id="rId6"/>
    <p:sldId id="270" r:id="rId7"/>
    <p:sldId id="285" r:id="rId8"/>
    <p:sldId id="269" r:id="rId9"/>
    <p:sldId id="274" r:id="rId10"/>
    <p:sldId id="267" r:id="rId11"/>
    <p:sldId id="262" r:id="rId12"/>
    <p:sldId id="259" r:id="rId13"/>
    <p:sldId id="260" r:id="rId14"/>
    <p:sldId id="263" r:id="rId15"/>
    <p:sldId id="26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71" r:id="rId27"/>
    <p:sldId id="272" r:id="rId28"/>
    <p:sldId id="265" r:id="rId2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14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F6FDA6-0D6A-4597-A732-5CBC71724CDA}" type="datetimeFigureOut">
              <a:rPr lang="de-DE" smtClean="0"/>
              <a:t>23.03.2026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66369B-F521-4A54-8E7A-0C98057A3B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287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B42577-1FA2-42C7-9E47-9CB6E13CDB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005FF6F-2355-686C-5FEE-368C6392ED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2A18E6B-5DE5-3183-152B-F9AD04304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CC8E3-8B86-4C26-9958-4FB51168DB07}" type="datetimeFigureOut">
              <a:rPr lang="de-DE" smtClean="0"/>
              <a:t>23.03.2026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3DFD8F0-687D-772A-AC5A-D4A706E07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DCD3411-009D-D91B-9D82-F9BB7730D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7D397-DC65-4305-8C59-DEADE5E29FE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3375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4A4646-BDA6-D468-7B4A-397B8ABC3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3D7EB6-6761-42B7-F60F-E49037BD6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BBD68BF-9FBF-49EB-03A2-4DEE49D84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CC8E3-8B86-4C26-9958-4FB51168DB07}" type="datetimeFigureOut">
              <a:rPr lang="de-DE" smtClean="0"/>
              <a:t>23.03.2026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5A824BE-6E70-52CA-20CE-29EE293EC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9F0AE7F-E53F-AD49-61A9-C689E78D5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7D397-DC65-4305-8C59-DEADE5E29FE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468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F89F35-A46B-0F75-D435-24BD5A30A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F8F60D7-7F6E-86AC-8080-53A193861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FF3550A-2109-62E4-F1D7-EC0E1EFB9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CC8E3-8B86-4C26-9958-4FB51168DB07}" type="datetimeFigureOut">
              <a:rPr lang="de-DE" smtClean="0"/>
              <a:t>23.03.2026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4088FAA-F176-1A78-11DF-4C3B07FB2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84B214-79F3-489D-C376-EC517963E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7D397-DC65-4305-8C59-DEADE5E29FE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4075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85429E-1311-F36B-BF21-A5859E4BC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F60C8E5-0F2D-56B0-42ED-4A98D5E15D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1A11E3F-CD67-7524-5851-BAA9FC1EAF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3F3D053-23FA-90CF-2EC9-F83997ECF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CC8E3-8B86-4C26-9958-4FB51168DB07}" type="datetimeFigureOut">
              <a:rPr lang="de-DE" smtClean="0"/>
              <a:t>23.03.2026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BA38F40-FF57-D23F-9BE0-30C7B2E9A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F17491D-6278-6A12-4B47-CCBC44683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7D397-DC65-4305-8C59-DEADE5E29FE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0984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07B0FB-0604-3338-18BF-6BC163F9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2D837BF-F998-FB4B-1F39-476C0F02D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B39895E-8A3E-CC00-B2DE-5C1E4DBF3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4508FA9-EEC7-7757-E40B-6138FEA67A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4029139-029A-6177-C720-1DD0C86AC9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0AF0E26-F35B-A153-074B-C67897795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CC8E3-8B86-4C26-9958-4FB51168DB07}" type="datetimeFigureOut">
              <a:rPr lang="de-DE" smtClean="0"/>
              <a:t>23.03.2026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804E808-3E3B-4A29-DED0-67C8AD88A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2E87817-80C7-B56C-E6BB-F96E5670C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7D397-DC65-4305-8C59-DEADE5E29FE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0049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99FEC9-8E36-61AC-9B40-9FE94C4A7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00178E6-FBFA-BA80-81BD-F0C903909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CC8E3-8B86-4C26-9958-4FB51168DB07}" type="datetimeFigureOut">
              <a:rPr lang="de-DE" smtClean="0"/>
              <a:t>23.03.2026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C04A6EB-967E-8566-DDD3-55E9738A8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B365DE2-7BB0-9567-5DEE-C85DA0122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7D397-DC65-4305-8C59-DEADE5E29FE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0109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FEFAC0E-37ED-F3EC-1C5C-5F3FDC9FD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CC8E3-8B86-4C26-9958-4FB51168DB07}" type="datetimeFigureOut">
              <a:rPr lang="de-DE" smtClean="0"/>
              <a:t>23.03.2026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EC6FFD0-5CC2-A17A-29B9-655E8ABF1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C1DE84A-8626-7CDB-83BB-E1B679DDB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7D397-DC65-4305-8C59-DEADE5E29FE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6011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9A74EF-91FB-348B-E106-6D1C71AFC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D8926F-0AE1-7247-0192-C8F851924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4A57CBB-A458-41A2-0F0C-1FD035B174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524BBE1-CDC4-7476-8A1C-EC0D8C6B9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CC8E3-8B86-4C26-9958-4FB51168DB07}" type="datetimeFigureOut">
              <a:rPr lang="de-DE" smtClean="0"/>
              <a:t>23.03.2026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ED5F515-75B7-B63F-0C0A-1CE49634D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D95DBA1-7400-7EB9-03B4-78070A47B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7D397-DC65-4305-8C59-DEADE5E29FE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5025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B02B41-9462-389E-7F6D-ACED49594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6C68027-E9E9-613D-6168-3B025B7658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C3E3E24-B245-C364-E9B4-ADDD2433A1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9CEE303-8E09-8982-7C64-D957F28D6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CC8E3-8B86-4C26-9958-4FB51168DB07}" type="datetimeFigureOut">
              <a:rPr lang="de-DE" smtClean="0"/>
              <a:t>23.03.2026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E7DBB6F-405D-F385-2483-C913DB5DD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11211CE-356D-239B-0029-3A51D2999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7D397-DC65-4305-8C59-DEADE5E29FE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0758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156FBF-78C4-2E4F-11AF-DCF4E96AC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39ED72E-C9E3-43A0-0339-5B6B4A1628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0FA7DF-A98A-3D13-F4A1-E82A491E4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CC8E3-8B86-4C26-9958-4FB51168DB07}" type="datetimeFigureOut">
              <a:rPr lang="de-DE" smtClean="0"/>
              <a:t>23.03.2026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B52BBD-9329-6721-5F8E-97CA4A504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497D67F-6032-98FC-17B2-7F60B55C7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7D397-DC65-4305-8C59-DEADE5E29FE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0924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0F555B0-56EE-6F68-E8AF-2818748E70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7E6A1CE-18EF-D91F-D293-83DC5E72A4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4AC24B-F37B-F54B-F159-8BFA2295C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CC8E3-8B86-4C26-9958-4FB51168DB07}" type="datetimeFigureOut">
              <a:rPr lang="de-DE" smtClean="0"/>
              <a:t>23.03.2026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8FDEE5-DDF3-AB19-FC9F-1B4F172CA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B29BB2-3F32-E34F-6AB4-4A54B6D8A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7D397-DC65-4305-8C59-DEADE5E29FE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8526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ACAEDB7-4072-5897-3AF2-8117338F9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22E162-9FC6-A9CD-AFE7-D456D89641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30B47E-3815-7E9D-6890-D748C1D783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9CC8E3-8B86-4C26-9958-4FB51168DB07}" type="datetimeFigureOut">
              <a:rPr lang="de-DE" smtClean="0"/>
              <a:t>23.03.2026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14C9F06-3844-9A50-4700-DC3D5AC31E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D943736-96F9-5ED8-8085-5A3CD1FCA8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07D397-DC65-4305-8C59-DEADE5E29FE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1999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raw.githubusercontent.com/espressif/arduino-esp32/gh-pages/package_esp32_index.json" TargetMode="External"/><Relationship Id="rId2" Type="http://schemas.openxmlformats.org/officeDocument/2006/relationships/hyperlink" Target="https://bluepad32.readthedocs.io/en/latest/plat_arduino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raw.githubusercontent.com/ricardoquesada/esp32-arduino-lib-builder/master/bluepad32_files/package_esp32_bluepad32_index.js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D0774-18A2-673D-283B-1C04DB363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68362"/>
            <a:ext cx="9144000" cy="2387600"/>
          </a:xfrm>
        </p:spPr>
        <p:txBody>
          <a:bodyPr>
            <a:normAutofit/>
          </a:bodyPr>
          <a:lstStyle/>
          <a:p>
            <a:r>
              <a:rPr lang="de-DE" sz="10000" dirty="0">
                <a:latin typeface="Impact" panose="020B0806030902050204" pitchFamily="34" charset="0"/>
              </a:rPr>
              <a:t>Kettenfahrzeug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3304FBE-99DF-EE64-5EB2-94852307E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12585"/>
            <a:ext cx="9144000" cy="587407"/>
          </a:xfrm>
        </p:spPr>
        <p:txBody>
          <a:bodyPr/>
          <a:lstStyle/>
          <a:p>
            <a:r>
              <a:rPr lang="de-DE" i="1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Semesterprojekt von Lasse, Hossein, Julian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B753068-DCEB-B788-AD32-F324BF9F36F0}"/>
              </a:ext>
            </a:extLst>
          </p:cNvPr>
          <p:cNvCxnSpPr/>
          <p:nvPr/>
        </p:nvCxnSpPr>
        <p:spPr>
          <a:xfrm>
            <a:off x="1698171" y="3429000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51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D0774-18A2-673D-283B-1C04DB363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181393"/>
            <a:ext cx="9144000" cy="1241941"/>
          </a:xfrm>
        </p:spPr>
        <p:txBody>
          <a:bodyPr>
            <a:normAutofit/>
          </a:bodyPr>
          <a:lstStyle/>
          <a:p>
            <a:r>
              <a:rPr lang="de-DE" dirty="0">
                <a:latin typeface="Impact" panose="020B0806030902050204" pitchFamily="34" charset="0"/>
              </a:rPr>
              <a:t>Inhaltsverzeichnis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3304FBE-99DF-EE64-5EB2-94852307E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97424" y="2533472"/>
            <a:ext cx="5197151" cy="1791056"/>
          </a:xfrm>
        </p:spPr>
        <p:txBody>
          <a:bodyPr>
            <a:noAutofit/>
          </a:bodyPr>
          <a:lstStyle/>
          <a:p>
            <a:pPr marL="514350" indent="-514350" algn="l">
              <a:buFont typeface="+mj-lt"/>
              <a:buAutoNum type="arabicPeriod"/>
            </a:pPr>
            <a:r>
              <a:rPr lang="de-DE" sz="20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Konstruktion und Planung</a:t>
            </a:r>
          </a:p>
          <a:p>
            <a:pPr marL="514350" indent="-514350" algn="l">
              <a:buFont typeface="+mj-lt"/>
              <a:buAutoNum type="arabicPeriod"/>
            </a:pPr>
            <a:r>
              <a:rPr lang="de-DE" sz="20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Elektronik und Verkabelung</a:t>
            </a:r>
          </a:p>
          <a:p>
            <a:pPr marL="514350" indent="-514350" algn="l">
              <a:buFont typeface="+mj-lt"/>
              <a:buAutoNum type="arabicPeriod"/>
            </a:pPr>
            <a:r>
              <a:rPr lang="de-DE" sz="20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Programmierung</a:t>
            </a:r>
          </a:p>
          <a:p>
            <a:pPr marL="514350" indent="-514350" algn="l">
              <a:buFont typeface="+mj-lt"/>
              <a:buAutoNum type="arabicPeriod"/>
            </a:pPr>
            <a:r>
              <a:rPr lang="de-DE" sz="20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Allgemeines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B753068-DCEB-B788-AD32-F324BF9F36F0}"/>
              </a:ext>
            </a:extLst>
          </p:cNvPr>
          <p:cNvCxnSpPr/>
          <p:nvPr/>
        </p:nvCxnSpPr>
        <p:spPr>
          <a:xfrm>
            <a:off x="1738604" y="1137542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8878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D0774-18A2-673D-283B-1C04DB363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69579"/>
            <a:ext cx="9144000" cy="2387600"/>
          </a:xfrm>
        </p:spPr>
        <p:txBody>
          <a:bodyPr>
            <a:normAutofit/>
          </a:bodyPr>
          <a:lstStyle/>
          <a:p>
            <a:r>
              <a:rPr lang="de-DE" sz="10000" dirty="0">
                <a:latin typeface="Impact" panose="020B0806030902050204" pitchFamily="34" charset="0"/>
              </a:rPr>
              <a:t>Konstruktion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3304FBE-99DF-EE64-5EB2-94852307E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59635"/>
            <a:ext cx="9144000" cy="1791056"/>
          </a:xfrm>
        </p:spPr>
        <p:txBody>
          <a:bodyPr>
            <a:noAutofit/>
          </a:bodyPr>
          <a:lstStyle/>
          <a:p>
            <a:r>
              <a:rPr lang="de-DE" sz="30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Lasse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B753068-DCEB-B788-AD32-F324BF9F36F0}"/>
              </a:ext>
            </a:extLst>
          </p:cNvPr>
          <p:cNvCxnSpPr/>
          <p:nvPr/>
        </p:nvCxnSpPr>
        <p:spPr>
          <a:xfrm>
            <a:off x="1698171" y="3830217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6463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BE92422F-6CFB-6703-F428-2208AF7C4F27}"/>
              </a:ext>
            </a:extLst>
          </p:cNvPr>
          <p:cNvSpPr txBox="1">
            <a:spLocks/>
          </p:cNvSpPr>
          <p:nvPr/>
        </p:nvSpPr>
        <p:spPr>
          <a:xfrm>
            <a:off x="3405187" y="0"/>
            <a:ext cx="5381625" cy="10192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latin typeface="Impact" panose="020B0806030902050204" pitchFamily="34" charset="0"/>
              </a:rPr>
              <a:t>Rahmen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86D8AB01-C043-70CC-51BD-6A6967F3BAD5}"/>
              </a:ext>
            </a:extLst>
          </p:cNvPr>
          <p:cNvCxnSpPr/>
          <p:nvPr/>
        </p:nvCxnSpPr>
        <p:spPr>
          <a:xfrm>
            <a:off x="1576168" y="1118956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" name="Grafik 4">
            <a:extLst>
              <a:ext uri="{FF2B5EF4-FFF2-40B4-BE49-F238E27FC236}">
                <a16:creationId xmlns:a16="http://schemas.microsoft.com/office/drawing/2014/main" id="{F7506FDB-45FA-1744-3418-9C5A47501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165" y="1508851"/>
            <a:ext cx="8714793" cy="487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921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BE92422F-6CFB-6703-F428-2208AF7C4F27}"/>
              </a:ext>
            </a:extLst>
          </p:cNvPr>
          <p:cNvSpPr txBox="1">
            <a:spLocks/>
          </p:cNvSpPr>
          <p:nvPr/>
        </p:nvSpPr>
        <p:spPr>
          <a:xfrm>
            <a:off x="3405187" y="0"/>
            <a:ext cx="5381625" cy="10192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latin typeface="Impact" panose="020B0806030902050204" pitchFamily="34" charset="0"/>
              </a:rPr>
              <a:t>Weitere Teile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86D8AB01-C043-70CC-51BD-6A6967F3BAD5}"/>
              </a:ext>
            </a:extLst>
          </p:cNvPr>
          <p:cNvCxnSpPr/>
          <p:nvPr/>
        </p:nvCxnSpPr>
        <p:spPr>
          <a:xfrm>
            <a:off x="1576168" y="1118956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EA13F5A4-757A-5D19-E1BF-CE2BF15D55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317"/>
          <a:stretch/>
        </p:blipFill>
        <p:spPr>
          <a:xfrm>
            <a:off x="1576168" y="1780971"/>
            <a:ext cx="2650106" cy="3958073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A3B4D3C1-839B-CE86-0FA3-E04E8B5224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9006"/>
          <a:stretch/>
        </p:blipFill>
        <p:spPr>
          <a:xfrm>
            <a:off x="4770947" y="1780972"/>
            <a:ext cx="2650106" cy="3958072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1C5CCE42-FBEE-5BF3-B4C4-86B7174B0B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5958"/>
          <a:stretch/>
        </p:blipFill>
        <p:spPr>
          <a:xfrm>
            <a:off x="7965727" y="1780972"/>
            <a:ext cx="2325233" cy="395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724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BE92422F-6CFB-6703-F428-2208AF7C4F27}"/>
              </a:ext>
            </a:extLst>
          </p:cNvPr>
          <p:cNvSpPr txBox="1">
            <a:spLocks/>
          </p:cNvSpPr>
          <p:nvPr/>
        </p:nvSpPr>
        <p:spPr>
          <a:xfrm>
            <a:off x="2524664" y="0"/>
            <a:ext cx="7142672" cy="10192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latin typeface="Impact" panose="020B0806030902050204" pitchFamily="34" charset="0"/>
              </a:rPr>
              <a:t>Kabelmanagement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86D8AB01-C043-70CC-51BD-6A6967F3BAD5}"/>
              </a:ext>
            </a:extLst>
          </p:cNvPr>
          <p:cNvCxnSpPr/>
          <p:nvPr/>
        </p:nvCxnSpPr>
        <p:spPr>
          <a:xfrm>
            <a:off x="1576168" y="1118956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Grafik 6" descr="Ein Bild, das Elektrische Leitungen, Elektronik, Kabel, Maschine enthält.&#10;&#10;KI-generierte Inhalte können fehlerhaft sein.">
            <a:extLst>
              <a:ext uri="{FF2B5EF4-FFF2-40B4-BE49-F238E27FC236}">
                <a16:creationId xmlns:a16="http://schemas.microsoft.com/office/drawing/2014/main" id="{F28C137B-6883-43F6-7B6F-4E369A70B8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157" y="1822184"/>
            <a:ext cx="8709803" cy="391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59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BE92422F-6CFB-6703-F428-2208AF7C4F27}"/>
              </a:ext>
            </a:extLst>
          </p:cNvPr>
          <p:cNvSpPr txBox="1">
            <a:spLocks/>
          </p:cNvSpPr>
          <p:nvPr/>
        </p:nvSpPr>
        <p:spPr>
          <a:xfrm>
            <a:off x="2524664" y="0"/>
            <a:ext cx="7142672" cy="10192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latin typeface="Impact" panose="020B0806030902050204" pitchFamily="34" charset="0"/>
              </a:rPr>
              <a:t>Kabelmanagement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86D8AB01-C043-70CC-51BD-6A6967F3BAD5}"/>
              </a:ext>
            </a:extLst>
          </p:cNvPr>
          <p:cNvCxnSpPr/>
          <p:nvPr/>
        </p:nvCxnSpPr>
        <p:spPr>
          <a:xfrm>
            <a:off x="1576168" y="1118956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732B8105-3980-367C-3866-F5279BCDA6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96"/>
          <a:stretch/>
        </p:blipFill>
        <p:spPr>
          <a:xfrm rot="16200000">
            <a:off x="3818879" y="-756249"/>
            <a:ext cx="4252582" cy="873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126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BE92422F-6CFB-6703-F428-2208AF7C4F27}"/>
              </a:ext>
            </a:extLst>
          </p:cNvPr>
          <p:cNvSpPr txBox="1">
            <a:spLocks/>
          </p:cNvSpPr>
          <p:nvPr/>
        </p:nvSpPr>
        <p:spPr>
          <a:xfrm>
            <a:off x="3405186" y="0"/>
            <a:ext cx="5381625" cy="10192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latin typeface="Impact" panose="020B0806030902050204" pitchFamily="34" charset="0"/>
              </a:rPr>
              <a:t>Fahrgestell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86D8AB01-C043-70CC-51BD-6A6967F3BAD5}"/>
              </a:ext>
            </a:extLst>
          </p:cNvPr>
          <p:cNvCxnSpPr/>
          <p:nvPr/>
        </p:nvCxnSpPr>
        <p:spPr>
          <a:xfrm>
            <a:off x="1738604" y="1110800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" name="Grafik 7">
            <a:extLst>
              <a:ext uri="{FF2B5EF4-FFF2-40B4-BE49-F238E27FC236}">
                <a16:creationId xmlns:a16="http://schemas.microsoft.com/office/drawing/2014/main" id="{A8F6D6A0-ECC8-EB46-7E96-C6A524503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603" y="1712150"/>
            <a:ext cx="8714792" cy="408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308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BE92422F-6CFB-6703-F428-2208AF7C4F27}"/>
              </a:ext>
            </a:extLst>
          </p:cNvPr>
          <p:cNvSpPr txBox="1">
            <a:spLocks/>
          </p:cNvSpPr>
          <p:nvPr/>
        </p:nvSpPr>
        <p:spPr>
          <a:xfrm>
            <a:off x="3405186" y="0"/>
            <a:ext cx="5381625" cy="10192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latin typeface="Impact" panose="020B0806030902050204" pitchFamily="34" charset="0"/>
              </a:rPr>
              <a:t>Fahrgestell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86D8AB01-C043-70CC-51BD-6A6967F3BAD5}"/>
              </a:ext>
            </a:extLst>
          </p:cNvPr>
          <p:cNvCxnSpPr/>
          <p:nvPr/>
        </p:nvCxnSpPr>
        <p:spPr>
          <a:xfrm>
            <a:off x="1738604" y="1110800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" name="Grafik 7" descr="Ein Bild, das Rad, Autoteile, Reifen, Spielzeug enthält.&#10;&#10;KI-generierte Inhalte können fehlerhaft sein.">
            <a:extLst>
              <a:ext uri="{FF2B5EF4-FFF2-40B4-BE49-F238E27FC236}">
                <a16:creationId xmlns:a16="http://schemas.microsoft.com/office/drawing/2014/main" id="{FCF7DE57-E8F5-57E6-6CAD-66BA149D5C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604" y="2005834"/>
            <a:ext cx="8714792" cy="3919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412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93304FBE-99DF-EE64-5EB2-94852307E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6168" y="2108888"/>
            <a:ext cx="2639330" cy="3554980"/>
          </a:xfrm>
        </p:spPr>
        <p:txBody>
          <a:bodyPr>
            <a:noAutofit/>
          </a:bodyPr>
          <a:lstStyle/>
          <a:p>
            <a:r>
              <a:rPr lang="de-DE" sz="2000" b="1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Positiv</a:t>
            </a:r>
          </a:p>
          <a:p>
            <a:pPr algn="l"/>
            <a:endParaRPr lang="de-DE" sz="2000" b="1" dirty="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de-DE" sz="20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Doppeltes Fahrgestell</a:t>
            </a: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de-DE" sz="20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Modulares System mit vielen externen Teilen</a:t>
            </a: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de-DE" sz="20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Flexibilität des Materials ist ein Vorteil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E92422F-6CFB-6703-F428-2208AF7C4F27}"/>
              </a:ext>
            </a:extLst>
          </p:cNvPr>
          <p:cNvSpPr txBox="1">
            <a:spLocks/>
          </p:cNvSpPr>
          <p:nvPr/>
        </p:nvSpPr>
        <p:spPr>
          <a:xfrm>
            <a:off x="3405187" y="0"/>
            <a:ext cx="5381625" cy="10192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latin typeface="Impact" panose="020B0806030902050204" pitchFamily="34" charset="0"/>
              </a:rPr>
              <a:t>Zwischenfazit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86D8AB01-C043-70CC-51BD-6A6967F3BAD5}"/>
              </a:ext>
            </a:extLst>
          </p:cNvPr>
          <p:cNvCxnSpPr/>
          <p:nvPr/>
        </p:nvCxnSpPr>
        <p:spPr>
          <a:xfrm>
            <a:off x="1576168" y="1118956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Untertitel 2">
            <a:extLst>
              <a:ext uri="{FF2B5EF4-FFF2-40B4-BE49-F238E27FC236}">
                <a16:creationId xmlns:a16="http://schemas.microsoft.com/office/drawing/2014/main" id="{3E9646A3-113F-3764-D676-70FA6CA8883E}"/>
              </a:ext>
            </a:extLst>
          </p:cNvPr>
          <p:cNvSpPr txBox="1">
            <a:spLocks/>
          </p:cNvSpPr>
          <p:nvPr/>
        </p:nvSpPr>
        <p:spPr>
          <a:xfrm>
            <a:off x="4672302" y="1651510"/>
            <a:ext cx="2639330" cy="35549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Wingdings" panose="05000000000000000000" pitchFamily="2" charset="2"/>
              <a:buChar char="v"/>
            </a:pPr>
            <a:endParaRPr lang="de-DE" sz="2000" dirty="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r>
              <a:rPr lang="de-DE" sz="2000" b="1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Negativ</a:t>
            </a:r>
          </a:p>
          <a:p>
            <a:pPr algn="l"/>
            <a:endParaRPr lang="de-DE" sz="2000" b="1" dirty="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de-DE" sz="20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Viele Testdrucke notwendig (Material- und Zeitaufwand)</a:t>
            </a: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de-DE" sz="20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Millimeter können ein Modell unbrauchbar machen</a:t>
            </a:r>
          </a:p>
        </p:txBody>
      </p:sp>
      <p:sp>
        <p:nvSpPr>
          <p:cNvPr id="5" name="Untertitel 2">
            <a:extLst>
              <a:ext uri="{FF2B5EF4-FFF2-40B4-BE49-F238E27FC236}">
                <a16:creationId xmlns:a16="http://schemas.microsoft.com/office/drawing/2014/main" id="{F7F370D7-3BCE-781E-2D22-81B61AD8BA4A}"/>
              </a:ext>
            </a:extLst>
          </p:cNvPr>
          <p:cNvSpPr txBox="1">
            <a:spLocks/>
          </p:cNvSpPr>
          <p:nvPr/>
        </p:nvSpPr>
        <p:spPr>
          <a:xfrm>
            <a:off x="7651630" y="2095322"/>
            <a:ext cx="2639330" cy="1791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b="1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Allgemein</a:t>
            </a:r>
          </a:p>
          <a:p>
            <a:pPr algn="l"/>
            <a:endParaRPr lang="de-DE" sz="2000" b="1" dirty="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de-DE" sz="20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Frühe durchdachte Planung lohnt sich</a:t>
            </a: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de-DE" sz="20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3D-Druck-Ungenauigkeiten antizipieren</a:t>
            </a: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de-DE" sz="20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Improvisation ist oft notwendig</a:t>
            </a:r>
          </a:p>
        </p:txBody>
      </p:sp>
    </p:spTree>
    <p:extLst>
      <p:ext uri="{BB962C8B-B14F-4D97-AF65-F5344CB8AC3E}">
        <p14:creationId xmlns:p14="http://schemas.microsoft.com/office/powerpoint/2010/main" val="1779069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D0774-18A2-673D-283B-1C04DB363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69579"/>
            <a:ext cx="9144000" cy="2387600"/>
          </a:xfrm>
        </p:spPr>
        <p:txBody>
          <a:bodyPr>
            <a:normAutofit/>
          </a:bodyPr>
          <a:lstStyle/>
          <a:p>
            <a:r>
              <a:rPr lang="de-DE" sz="10000" dirty="0">
                <a:latin typeface="Impact" panose="020B0806030902050204" pitchFamily="34" charset="0"/>
              </a:rPr>
              <a:t>Elektronik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3304FBE-99DF-EE64-5EB2-94852307E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59635"/>
            <a:ext cx="9144000" cy="1791056"/>
          </a:xfrm>
        </p:spPr>
        <p:txBody>
          <a:bodyPr>
            <a:noAutofit/>
          </a:bodyPr>
          <a:lstStyle/>
          <a:p>
            <a:r>
              <a:rPr lang="de-DE" sz="30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Julian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B753068-DCEB-B788-AD32-F324BF9F36F0}"/>
              </a:ext>
            </a:extLst>
          </p:cNvPr>
          <p:cNvCxnSpPr/>
          <p:nvPr/>
        </p:nvCxnSpPr>
        <p:spPr>
          <a:xfrm>
            <a:off x="1698171" y="3830217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897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D0774-18A2-673D-283B-1C04DB363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0485" y="39054"/>
            <a:ext cx="3331029" cy="1019204"/>
          </a:xfrm>
        </p:spPr>
        <p:txBody>
          <a:bodyPr>
            <a:normAutofit/>
          </a:bodyPr>
          <a:lstStyle/>
          <a:p>
            <a:r>
              <a:rPr lang="de-DE" dirty="0">
                <a:latin typeface="Impact" panose="020B0806030902050204" pitchFamily="34" charset="0"/>
              </a:rPr>
              <a:t>Elektronik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3304FBE-99DF-EE64-5EB2-94852307E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8849" y="2533471"/>
            <a:ext cx="9144000" cy="3848665"/>
          </a:xfrm>
        </p:spPr>
        <p:txBody>
          <a:bodyPr>
            <a:noAutofit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de-DE" sz="20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11.1V 3500mAh - Akku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endParaRPr lang="de-DE" sz="2000" dirty="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de-DE" sz="20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2x BTS7960 43A – H-Brücke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endParaRPr lang="de-DE" sz="2000" dirty="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de-DE" sz="20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2x JGB37-520 12V Motor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endParaRPr lang="de-DE" sz="2000" dirty="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de-DE" sz="20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LM2596 – Buck-Converter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endParaRPr lang="de-DE" sz="2000" dirty="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de-DE" sz="20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ESP32 Dev-Module (38 Pins)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B753068-DCEB-B788-AD32-F324BF9F36F0}"/>
              </a:ext>
            </a:extLst>
          </p:cNvPr>
          <p:cNvCxnSpPr/>
          <p:nvPr/>
        </p:nvCxnSpPr>
        <p:spPr>
          <a:xfrm>
            <a:off x="1576168" y="1118956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Grafik 5" descr="Ein Bild, das Text, Allgemeine Versorgung, Büroausstattung, Etikett enthält.&#10;&#10;KI-generierte Inhalte können fehlerhaft sein.">
            <a:extLst>
              <a:ext uri="{FF2B5EF4-FFF2-40B4-BE49-F238E27FC236}">
                <a16:creationId xmlns:a16="http://schemas.microsoft.com/office/drawing/2014/main" id="{B109BC79-F612-DA75-4651-5C4278F2E9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0372" y="1986084"/>
            <a:ext cx="2232463" cy="1777916"/>
          </a:xfrm>
          <a:prstGeom prst="rect">
            <a:avLst/>
          </a:prstGeom>
        </p:spPr>
      </p:pic>
      <p:pic>
        <p:nvPicPr>
          <p:cNvPr id="8" name="Grafik 7" descr="Ein Bild, das Elektronik, Elektronisches Bauteil, Elektrisches Bauelement, Schaltung enthält.&#10;&#10;KI-generierte Inhalte können fehlerhaft sein.">
            <a:extLst>
              <a:ext uri="{FF2B5EF4-FFF2-40B4-BE49-F238E27FC236}">
                <a16:creationId xmlns:a16="http://schemas.microsoft.com/office/drawing/2014/main" id="{AF376ADC-B7DD-2D3B-0180-9FCFD057D9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7044" y="4279431"/>
            <a:ext cx="1776107" cy="1535419"/>
          </a:xfrm>
          <a:prstGeom prst="rect">
            <a:avLst/>
          </a:prstGeom>
        </p:spPr>
      </p:pic>
      <p:pic>
        <p:nvPicPr>
          <p:cNvPr id="10" name="Grafik 9" descr="Ein Bild, das Elektronik, Elektrisches Bauelement, Elektronisches Bauteil, Schaltung enthält.&#10;&#10;KI-generierte Inhalte können fehlerhaft sein.">
            <a:extLst>
              <a:ext uri="{FF2B5EF4-FFF2-40B4-BE49-F238E27FC236}">
                <a16:creationId xmlns:a16="http://schemas.microsoft.com/office/drawing/2014/main" id="{2C6DB4DF-7CAC-76B2-14FF-CF0AFF5F5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633" y="2043827"/>
            <a:ext cx="2232464" cy="2050686"/>
          </a:xfrm>
          <a:prstGeom prst="rect">
            <a:avLst/>
          </a:prstGeom>
        </p:spPr>
      </p:pic>
      <p:pic>
        <p:nvPicPr>
          <p:cNvPr id="12" name="Grafik 11" descr="Ein Bild, das Röhre enthält.&#10;&#10;KI-generierte Inhalte können fehlerhaft sein.">
            <a:extLst>
              <a:ext uri="{FF2B5EF4-FFF2-40B4-BE49-F238E27FC236}">
                <a16:creationId xmlns:a16="http://schemas.microsoft.com/office/drawing/2014/main" id="{5D354501-3BFF-6440-5702-C64F04BF6E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297" y="3307658"/>
            <a:ext cx="1228602" cy="2233822"/>
          </a:xfrm>
          <a:prstGeom prst="rect">
            <a:avLst/>
          </a:prstGeom>
        </p:spPr>
      </p:pic>
      <p:pic>
        <p:nvPicPr>
          <p:cNvPr id="14" name="Grafik 13" descr="Ein Bild, das Elektronik, Computerkomponenten, Elektronisches Bauteil, Elektrisches Bauelement enthält.&#10;&#10;KI-generierte Inhalte können fehlerhaft sein.">
            <a:extLst>
              <a:ext uri="{FF2B5EF4-FFF2-40B4-BE49-F238E27FC236}">
                <a16:creationId xmlns:a16="http://schemas.microsoft.com/office/drawing/2014/main" id="{6B30D8AC-25CB-8DC9-7B69-C7A7727C16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9513" y="5087251"/>
            <a:ext cx="1619317" cy="1455197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D3227EC0-6C59-6CD2-5D53-172A65B2C243}"/>
              </a:ext>
            </a:extLst>
          </p:cNvPr>
          <p:cNvSpPr txBox="1"/>
          <p:nvPr/>
        </p:nvSpPr>
        <p:spPr>
          <a:xfrm>
            <a:off x="233265" y="6456784"/>
            <a:ext cx="5299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*Alle aufgeführten Bauteile stammen von Aliexpress</a:t>
            </a:r>
          </a:p>
        </p:txBody>
      </p:sp>
    </p:spTree>
    <p:extLst>
      <p:ext uri="{BB962C8B-B14F-4D97-AF65-F5344CB8AC3E}">
        <p14:creationId xmlns:p14="http://schemas.microsoft.com/office/powerpoint/2010/main" val="1379536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 descr="Ein Bild, das Text, Diagramm, Plan, technische Zeichnung enthält.&#10;&#10;KI-generierte Inhalte können fehlerhaft sein.">
            <a:extLst>
              <a:ext uri="{FF2B5EF4-FFF2-40B4-BE49-F238E27FC236}">
                <a16:creationId xmlns:a16="http://schemas.microsoft.com/office/drawing/2014/main" id="{7B82A2CC-6A98-31A3-AE4C-FB7D82868B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12" t="12063" r="21627" b="12230"/>
          <a:stretch/>
        </p:blipFill>
        <p:spPr>
          <a:xfrm>
            <a:off x="2166061" y="-136062"/>
            <a:ext cx="7859877" cy="6994062"/>
          </a:xfr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84DDF3DC-E437-73A9-3E48-A989147B64CA}"/>
              </a:ext>
            </a:extLst>
          </p:cNvPr>
          <p:cNvSpPr txBox="1"/>
          <p:nvPr/>
        </p:nvSpPr>
        <p:spPr>
          <a:xfrm>
            <a:off x="165619" y="6412077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https://easyeda.com</a:t>
            </a:r>
          </a:p>
        </p:txBody>
      </p:sp>
    </p:spTree>
    <p:extLst>
      <p:ext uri="{BB962C8B-B14F-4D97-AF65-F5344CB8AC3E}">
        <p14:creationId xmlns:p14="http://schemas.microsoft.com/office/powerpoint/2010/main" val="4040044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D0774-18A2-673D-283B-1C04DB363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69579"/>
            <a:ext cx="9144000" cy="2387600"/>
          </a:xfrm>
        </p:spPr>
        <p:txBody>
          <a:bodyPr>
            <a:normAutofit fontScale="90000"/>
          </a:bodyPr>
          <a:lstStyle/>
          <a:p>
            <a:br>
              <a:rPr lang="de-DE" sz="10000" dirty="0">
                <a:latin typeface="Impact" panose="020B0806030902050204" pitchFamily="34" charset="0"/>
              </a:rPr>
            </a:br>
            <a:r>
              <a:rPr lang="de-DE" sz="11100" dirty="0">
                <a:latin typeface="Impact" panose="020B0806030902050204" pitchFamily="34" charset="0"/>
              </a:rPr>
              <a:t>Programmierung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3304FBE-99DF-EE64-5EB2-94852307E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59635"/>
            <a:ext cx="9144000" cy="1791056"/>
          </a:xfrm>
        </p:spPr>
        <p:txBody>
          <a:bodyPr>
            <a:noAutofit/>
          </a:bodyPr>
          <a:lstStyle/>
          <a:p>
            <a:r>
              <a:rPr lang="de-DE" sz="30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Hossein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B753068-DCEB-B788-AD32-F324BF9F36F0}"/>
              </a:ext>
            </a:extLst>
          </p:cNvPr>
          <p:cNvCxnSpPr/>
          <p:nvPr/>
        </p:nvCxnSpPr>
        <p:spPr>
          <a:xfrm>
            <a:off x="1698171" y="3830217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49177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D0774-18A2-673D-283B-1C04DB363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100"/>
            <a:ext cx="9144000" cy="926225"/>
          </a:xfrm>
        </p:spPr>
        <p:txBody>
          <a:bodyPr>
            <a:normAutofit/>
          </a:bodyPr>
          <a:lstStyle/>
          <a:p>
            <a:r>
              <a:rPr lang="de-DE" dirty="0">
                <a:latin typeface="Impact" panose="020B0806030902050204" pitchFamily="34" charset="0"/>
              </a:rPr>
              <a:t>Programmierung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3304FBE-99DF-EE64-5EB2-94852307E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38604" y="2533472"/>
            <a:ext cx="9926994" cy="1791056"/>
          </a:xfrm>
        </p:spPr>
        <p:txBody>
          <a:bodyPr>
            <a:noAutofit/>
          </a:bodyPr>
          <a:lstStyle/>
          <a:p>
            <a:pPr marL="514350" indent="-514350" algn="l">
              <a:buAutoNum type="arabicPeriod"/>
            </a:pPr>
            <a:r>
              <a:rPr lang="de-DE" sz="25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Mit </a:t>
            </a:r>
            <a:r>
              <a:rPr lang="de-DE" sz="2500" dirty="0" err="1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ChatGPT</a:t>
            </a:r>
            <a:r>
              <a:rPr lang="de-DE" sz="25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ein Überblick erstellt (nötige Tools usw.)</a:t>
            </a:r>
          </a:p>
          <a:p>
            <a:pPr marL="514350" indent="-514350" algn="l">
              <a:buAutoNum type="arabicPeriod"/>
            </a:pPr>
            <a:r>
              <a:rPr lang="de-DE" sz="25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Verbindung zwischen ESP32 und PS5 Controller (Bluepad32)</a:t>
            </a:r>
          </a:p>
          <a:p>
            <a:pPr marL="514350" indent="-514350" algn="l">
              <a:buAutoNum type="arabicPeriod"/>
            </a:pPr>
            <a:r>
              <a:rPr lang="de-DE" sz="25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Schnittstelle zwischen Elektronik und Code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B753068-DCEB-B788-AD32-F324BF9F36F0}"/>
              </a:ext>
            </a:extLst>
          </p:cNvPr>
          <p:cNvCxnSpPr/>
          <p:nvPr/>
        </p:nvCxnSpPr>
        <p:spPr>
          <a:xfrm>
            <a:off x="1738604" y="987263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83267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D0774-18A2-673D-283B-1C04DB363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100"/>
            <a:ext cx="9144000" cy="926225"/>
          </a:xfrm>
        </p:spPr>
        <p:txBody>
          <a:bodyPr>
            <a:normAutofit/>
          </a:bodyPr>
          <a:lstStyle/>
          <a:p>
            <a:r>
              <a:rPr lang="de-DE" dirty="0">
                <a:latin typeface="Impact" panose="020B0806030902050204" pitchFamily="34" charset="0"/>
              </a:rPr>
              <a:t>1. Schritt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3304FBE-99DF-EE64-5EB2-94852307E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38604" y="2391180"/>
            <a:ext cx="9926994" cy="1791056"/>
          </a:xfrm>
        </p:spPr>
        <p:txBody>
          <a:bodyPr>
            <a:noAutofit/>
          </a:bodyPr>
          <a:lstStyle/>
          <a:p>
            <a:pPr marL="514350" indent="-514350" algn="l">
              <a:buAutoNum type="arabicPeriod"/>
            </a:pPr>
            <a:r>
              <a:rPr lang="de-DE" sz="25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Ziel definiert: Was soll der Roboter können?</a:t>
            </a:r>
          </a:p>
          <a:p>
            <a:pPr marL="514350" indent="-514350" algn="l">
              <a:buAutoNum type="arabicPeriod"/>
            </a:pPr>
            <a:r>
              <a:rPr lang="de-DE" sz="25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KI gefragt (z.B. </a:t>
            </a:r>
            <a:r>
              <a:rPr lang="de-DE" sz="2500" dirty="0" err="1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ChatGPT</a:t>
            </a:r>
            <a:r>
              <a:rPr lang="de-DE" sz="25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/Claude): </a:t>
            </a:r>
            <a:r>
              <a:rPr lang="de-DE" sz="2500" dirty="0" err="1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Weche</a:t>
            </a:r>
            <a:r>
              <a:rPr lang="de-DE" sz="25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Komponenten brauche ich? Welche Bibliotheken? Welcher Ansatz?</a:t>
            </a:r>
          </a:p>
          <a:p>
            <a:pPr marL="514350" indent="-514350" algn="l">
              <a:buAutoNum type="arabicPeriod"/>
            </a:pPr>
            <a:r>
              <a:rPr lang="de-DE" sz="25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Grobe Architektur skizziert: ESP32 -&gt; Bluetooth -&gt; PS5 Controller -&gt; Motorsteuerung</a:t>
            </a:r>
          </a:p>
          <a:p>
            <a:pPr marL="514350" indent="-514350" algn="l">
              <a:buAutoNum type="arabicPeriod"/>
            </a:pPr>
            <a:r>
              <a:rPr lang="de-DE" sz="25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Offene Fragen gesammelt: Was muss ich noch recherchieren? 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B753068-DCEB-B788-AD32-F324BF9F36F0}"/>
              </a:ext>
            </a:extLst>
          </p:cNvPr>
          <p:cNvCxnSpPr/>
          <p:nvPr/>
        </p:nvCxnSpPr>
        <p:spPr>
          <a:xfrm>
            <a:off x="1738604" y="987263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1442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D0774-18A2-673D-283B-1C04DB363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100"/>
            <a:ext cx="9144000" cy="926225"/>
          </a:xfrm>
        </p:spPr>
        <p:txBody>
          <a:bodyPr>
            <a:normAutofit/>
          </a:bodyPr>
          <a:lstStyle/>
          <a:p>
            <a:r>
              <a:rPr lang="de-DE" dirty="0">
                <a:latin typeface="Impact" panose="020B0806030902050204" pitchFamily="34" charset="0"/>
              </a:rPr>
              <a:t>2. Schritt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3304FBE-99DF-EE64-5EB2-94852307E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38604" y="2157914"/>
            <a:ext cx="9926994" cy="1791056"/>
          </a:xfrm>
        </p:spPr>
        <p:txBody>
          <a:bodyPr>
            <a:noAutofit/>
          </a:bodyPr>
          <a:lstStyle/>
          <a:p>
            <a:pPr marL="514350" indent="-514350" algn="l">
              <a:buAutoNum type="arabicPeriod"/>
            </a:pPr>
            <a:r>
              <a:rPr lang="de-DE" sz="2500" dirty="0" err="1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Youtube</a:t>
            </a:r>
            <a:r>
              <a:rPr lang="de-DE" sz="25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&amp; Dokumentation (Bluepad32) als Einstieg</a:t>
            </a:r>
          </a:p>
          <a:p>
            <a:pPr marL="514350" indent="-514350" algn="l">
              <a:buAutoNum type="arabicPeriod"/>
            </a:pPr>
            <a:r>
              <a:rPr lang="de-DE" sz="25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Ersten Prototyp erstellt &amp; getestet</a:t>
            </a:r>
          </a:p>
          <a:p>
            <a:pPr marL="514350" indent="-514350" algn="l">
              <a:buAutoNum type="arabicPeriod"/>
            </a:pPr>
            <a:r>
              <a:rPr lang="de-DE" sz="25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Stabile BT-Verbindung ohne MAC-Adresse</a:t>
            </a:r>
          </a:p>
          <a:p>
            <a:pPr marL="514350" indent="-514350" algn="l">
              <a:buAutoNum type="arabicPeriod"/>
            </a:pPr>
            <a:r>
              <a:rPr lang="de-DE" sz="25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Alle Eingaben live auslesbar (Buttons, Achsen, Trigger)</a:t>
            </a:r>
          </a:p>
          <a:p>
            <a:pPr marL="514350" indent="-514350" algn="l">
              <a:buAutoNum type="arabicPeriod"/>
            </a:pPr>
            <a:r>
              <a:rPr lang="de-DE" sz="25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Problem erkannt: Stick Drift / Rauschen bei Nullstellung</a:t>
            </a:r>
          </a:p>
          <a:p>
            <a:pPr marL="514350" indent="-514350" algn="l">
              <a:buAutoNum type="arabicPeriod"/>
            </a:pPr>
            <a:r>
              <a:rPr lang="de-DE" sz="25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Lösung: </a:t>
            </a:r>
            <a:r>
              <a:rPr lang="de-DE" sz="2500" dirty="0" err="1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Deadzone</a:t>
            </a:r>
            <a:r>
              <a:rPr lang="de-DE" sz="25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+ Komplettauslenkung definiert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B753068-DCEB-B788-AD32-F324BF9F36F0}"/>
              </a:ext>
            </a:extLst>
          </p:cNvPr>
          <p:cNvCxnSpPr/>
          <p:nvPr/>
        </p:nvCxnSpPr>
        <p:spPr>
          <a:xfrm>
            <a:off x="1738604" y="987263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42564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D0774-18A2-673D-283B-1C04DB363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100"/>
            <a:ext cx="9144000" cy="926225"/>
          </a:xfrm>
        </p:spPr>
        <p:txBody>
          <a:bodyPr>
            <a:normAutofit/>
          </a:bodyPr>
          <a:lstStyle/>
          <a:p>
            <a:r>
              <a:rPr lang="de-DE" dirty="0">
                <a:latin typeface="Impact" panose="020B0806030902050204" pitchFamily="34" charset="0"/>
              </a:rPr>
              <a:t>3. Schritt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3304FBE-99DF-EE64-5EB2-94852307E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38604" y="2148584"/>
            <a:ext cx="9926994" cy="1791056"/>
          </a:xfrm>
        </p:spPr>
        <p:txBody>
          <a:bodyPr>
            <a:noAutofit/>
          </a:bodyPr>
          <a:lstStyle/>
          <a:p>
            <a:pPr marL="514350" indent="-514350" algn="l">
              <a:buAutoNum type="arabicPeriod"/>
            </a:pPr>
            <a:r>
              <a:rPr lang="de-DE" sz="25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Verbindungs-Code als Basis genommen &amp; erweitert</a:t>
            </a:r>
          </a:p>
          <a:p>
            <a:pPr marL="514350" indent="-514350" algn="l">
              <a:buAutoNum type="arabicPeriod"/>
            </a:pPr>
            <a:r>
              <a:rPr lang="de-DE" sz="25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Achsenwerte auf Motorgeschwindigkeit gemappt</a:t>
            </a:r>
          </a:p>
          <a:p>
            <a:pPr marL="514350" indent="-514350" algn="l">
              <a:buAutoNum type="arabicPeriod"/>
            </a:pPr>
            <a:r>
              <a:rPr lang="de-DE" sz="2500" dirty="0" err="1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Deadzone</a:t>
            </a:r>
            <a:r>
              <a:rPr lang="de-DE" sz="25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-&gt; Motoren stehen still</a:t>
            </a:r>
          </a:p>
          <a:p>
            <a:pPr marL="514350" indent="-514350" algn="l">
              <a:buAutoNum type="arabicPeriod"/>
            </a:pPr>
            <a:r>
              <a:rPr lang="de-DE" sz="25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Komplettauslenkung -&gt; Maximale Motorleistung</a:t>
            </a:r>
          </a:p>
          <a:p>
            <a:pPr marL="514350" indent="-514350" algn="l">
              <a:buAutoNum type="arabicPeriod"/>
            </a:pPr>
            <a:r>
              <a:rPr lang="de-DE" sz="25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Richtungssteuerung implementiert</a:t>
            </a:r>
          </a:p>
          <a:p>
            <a:pPr marL="514350" indent="-514350" algn="l">
              <a:buAutoNum type="arabicPeriod"/>
            </a:pPr>
            <a:endParaRPr lang="de-DE" sz="2500" dirty="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B753068-DCEB-B788-AD32-F324BF9F36F0}"/>
              </a:ext>
            </a:extLst>
          </p:cNvPr>
          <p:cNvCxnSpPr/>
          <p:nvPr/>
        </p:nvCxnSpPr>
        <p:spPr>
          <a:xfrm>
            <a:off x="1738604" y="987263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28514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D0774-18A2-673D-283B-1C04DB363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100"/>
            <a:ext cx="9144000" cy="926225"/>
          </a:xfrm>
        </p:spPr>
        <p:txBody>
          <a:bodyPr>
            <a:normAutofit/>
          </a:bodyPr>
          <a:lstStyle/>
          <a:p>
            <a:r>
              <a:rPr lang="de-DE" dirty="0">
                <a:latin typeface="Impact" panose="020B0806030902050204" pitchFamily="34" charset="0"/>
              </a:rPr>
              <a:t>Code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3304FBE-99DF-EE64-5EB2-94852307E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38604" y="1840674"/>
            <a:ext cx="9926994" cy="1791056"/>
          </a:xfrm>
        </p:spPr>
        <p:txBody>
          <a:bodyPr>
            <a:noAutofit/>
          </a:bodyPr>
          <a:lstStyle/>
          <a:p>
            <a:pPr marL="514350" indent="-514350" algn="l">
              <a:buAutoNum type="arabicPeriod"/>
            </a:pPr>
            <a:r>
              <a:rPr lang="de-DE" sz="25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Bibliotheken einbinden</a:t>
            </a:r>
          </a:p>
          <a:p>
            <a:pPr marL="514350" indent="-514350" algn="l">
              <a:buAutoNum type="arabicPeriod"/>
            </a:pPr>
            <a:r>
              <a:rPr lang="de-DE" sz="25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Konstanten definieren</a:t>
            </a:r>
          </a:p>
          <a:p>
            <a:pPr marL="514350" indent="-514350" algn="l">
              <a:buAutoNum type="arabicPeriod"/>
            </a:pPr>
            <a:r>
              <a:rPr lang="de-DE" sz="25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Controller Array</a:t>
            </a:r>
          </a:p>
          <a:p>
            <a:pPr marL="514350" indent="-514350" algn="l">
              <a:buAutoNum type="arabicPeriod"/>
            </a:pPr>
            <a:r>
              <a:rPr lang="de-DE" sz="25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Callback Funktion</a:t>
            </a:r>
          </a:p>
          <a:p>
            <a:pPr marL="514350" indent="-514350" algn="l">
              <a:buAutoNum type="arabicPeriod"/>
            </a:pPr>
            <a:r>
              <a:rPr lang="de-DE" sz="25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Setup()</a:t>
            </a:r>
          </a:p>
          <a:p>
            <a:pPr marL="514350" indent="-514350" algn="l">
              <a:buAutoNum type="arabicPeriod"/>
            </a:pPr>
            <a:r>
              <a:rPr lang="de-DE" sz="25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Loop()</a:t>
            </a:r>
          </a:p>
          <a:p>
            <a:pPr marL="514350" indent="-514350" algn="l">
              <a:buAutoNum type="arabicPeriod"/>
            </a:pPr>
            <a:endParaRPr lang="de-DE" sz="2500" dirty="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B753068-DCEB-B788-AD32-F324BF9F36F0}"/>
              </a:ext>
            </a:extLst>
          </p:cNvPr>
          <p:cNvCxnSpPr/>
          <p:nvPr/>
        </p:nvCxnSpPr>
        <p:spPr>
          <a:xfrm>
            <a:off x="1738604" y="987263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92657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D0774-18A2-673D-283B-1C04DB363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100"/>
            <a:ext cx="9144000" cy="926225"/>
          </a:xfrm>
        </p:spPr>
        <p:txBody>
          <a:bodyPr>
            <a:normAutofit/>
          </a:bodyPr>
          <a:lstStyle/>
          <a:p>
            <a:r>
              <a:rPr lang="de-DE" dirty="0">
                <a:latin typeface="Impact" panose="020B0806030902050204" pitchFamily="34" charset="0"/>
              </a:rPr>
              <a:t>Bibliotheken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3304FBE-99DF-EE64-5EB2-94852307E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7834" y="2321200"/>
            <a:ext cx="9926994" cy="1791056"/>
          </a:xfrm>
        </p:spPr>
        <p:txBody>
          <a:bodyPr>
            <a:noAutofit/>
          </a:bodyPr>
          <a:lstStyle/>
          <a:p>
            <a:r>
              <a:rPr lang="de-DE" sz="30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#include &lt;Bluepad32.h&gt;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B753068-DCEB-B788-AD32-F324BF9F36F0}"/>
              </a:ext>
            </a:extLst>
          </p:cNvPr>
          <p:cNvCxnSpPr/>
          <p:nvPr/>
        </p:nvCxnSpPr>
        <p:spPr>
          <a:xfrm>
            <a:off x="1738604" y="987263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18375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D0774-18A2-673D-283B-1C04DB363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100"/>
            <a:ext cx="9144000" cy="926225"/>
          </a:xfrm>
        </p:spPr>
        <p:txBody>
          <a:bodyPr>
            <a:normAutofit/>
          </a:bodyPr>
          <a:lstStyle/>
          <a:p>
            <a:r>
              <a:rPr lang="de-DE" dirty="0">
                <a:latin typeface="Impact" panose="020B0806030902050204" pitchFamily="34" charset="0"/>
              </a:rPr>
              <a:t>Konstanten definieren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3304FBE-99DF-EE64-5EB2-94852307E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18515" y="2117706"/>
            <a:ext cx="4049485" cy="3753029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de-DE" sz="25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#</a:t>
            </a:r>
            <a:r>
              <a:rPr lang="de-DE" sz="2500" dirty="0"/>
              <a:t>#define R_R_PWM 23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de-DE" sz="2500" dirty="0"/>
              <a:t>#define PWM_FREQ 1000 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de-DE" sz="2500" dirty="0"/>
              <a:t>#define PWM_RES 8 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de-DE" sz="2500" dirty="0"/>
              <a:t>#define CH_L_FWD 0 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de-DE" sz="2500" dirty="0"/>
              <a:t>#define CH_L_BWD 1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de-DE" sz="2500" dirty="0"/>
              <a:t>#define CH_R_FWD 2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de-DE" sz="2500" dirty="0"/>
              <a:t>#define CH_R_BWD 3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de-DE" sz="2500" dirty="0"/>
              <a:t>#define DEADZONE 10</a:t>
            </a:r>
          </a:p>
          <a:p>
            <a:endParaRPr lang="de-DE" sz="2500" dirty="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B753068-DCEB-B788-AD32-F324BF9F36F0}"/>
              </a:ext>
            </a:extLst>
          </p:cNvPr>
          <p:cNvCxnSpPr/>
          <p:nvPr/>
        </p:nvCxnSpPr>
        <p:spPr>
          <a:xfrm>
            <a:off x="1738604" y="987263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Untertitel 2">
            <a:extLst>
              <a:ext uri="{FF2B5EF4-FFF2-40B4-BE49-F238E27FC236}">
                <a16:creationId xmlns:a16="http://schemas.microsoft.com/office/drawing/2014/main" id="{5BCD6D33-3B0C-F6D2-3CA6-3C3AC3966F90}"/>
              </a:ext>
            </a:extLst>
          </p:cNvPr>
          <p:cNvSpPr txBox="1">
            <a:spLocks/>
          </p:cNvSpPr>
          <p:nvPr/>
        </p:nvSpPr>
        <p:spPr>
          <a:xfrm>
            <a:off x="1524001" y="2117705"/>
            <a:ext cx="4049485" cy="37530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2500" dirty="0">
                <a:ea typeface="+mn-lt"/>
                <a:cs typeface="+mn-lt"/>
              </a:rPr>
              <a:t>#define L_EN 27</a:t>
            </a:r>
            <a:endParaRPr lang="en-US" sz="2500" dirty="0"/>
          </a:p>
          <a:p>
            <a:pPr algn="l"/>
            <a:r>
              <a:rPr lang="de-DE" sz="2500" dirty="0">
                <a:ea typeface="+mn-lt"/>
                <a:cs typeface="+mn-lt"/>
              </a:rPr>
              <a:t>#define R_EN 26</a:t>
            </a:r>
            <a:endParaRPr lang="de-DE" sz="2500" dirty="0"/>
          </a:p>
          <a:p>
            <a:pPr algn="l"/>
            <a:r>
              <a:rPr lang="de-DE" sz="2500" dirty="0">
                <a:ea typeface="+mn-lt"/>
                <a:cs typeface="+mn-lt"/>
              </a:rPr>
              <a:t>#define L_PWM 33</a:t>
            </a:r>
            <a:endParaRPr lang="de-DE" sz="2500" dirty="0"/>
          </a:p>
          <a:p>
            <a:pPr algn="l"/>
            <a:r>
              <a:rPr lang="de-DE" sz="2500" dirty="0">
                <a:ea typeface="+mn-lt"/>
                <a:cs typeface="+mn-lt"/>
              </a:rPr>
              <a:t>#define R_PWM_L 25 </a:t>
            </a:r>
            <a:endParaRPr lang="de-DE" sz="2500" dirty="0"/>
          </a:p>
          <a:p>
            <a:pPr algn="l"/>
            <a:r>
              <a:rPr lang="de-DE" sz="2500" dirty="0">
                <a:ea typeface="+mn-lt"/>
                <a:cs typeface="+mn-lt"/>
              </a:rPr>
              <a:t>#define R_L_EN 14</a:t>
            </a:r>
            <a:endParaRPr lang="de-DE" sz="2500" dirty="0"/>
          </a:p>
          <a:p>
            <a:pPr algn="l"/>
            <a:r>
              <a:rPr lang="de-DE" sz="2500" dirty="0">
                <a:ea typeface="+mn-lt"/>
                <a:cs typeface="+mn-lt"/>
              </a:rPr>
              <a:t>#define R_R_EN 13</a:t>
            </a:r>
            <a:endParaRPr lang="de-DE" sz="2500" dirty="0"/>
          </a:p>
          <a:p>
            <a:pPr algn="l"/>
            <a:r>
              <a:rPr lang="de-DE" sz="2500" dirty="0">
                <a:ea typeface="+mn-lt"/>
                <a:cs typeface="+mn-lt"/>
              </a:rPr>
              <a:t>#define R_L_PWM 32</a:t>
            </a:r>
            <a:endParaRPr lang="de-DE" sz="2500" dirty="0"/>
          </a:p>
          <a:p>
            <a:endParaRPr lang="de-DE" sz="2500" dirty="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50882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D0774-18A2-673D-283B-1C04DB363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100"/>
            <a:ext cx="9144000" cy="926225"/>
          </a:xfrm>
        </p:spPr>
        <p:txBody>
          <a:bodyPr>
            <a:normAutofit/>
          </a:bodyPr>
          <a:lstStyle/>
          <a:p>
            <a:r>
              <a:rPr lang="de-DE" dirty="0">
                <a:latin typeface="Impact" panose="020B0806030902050204" pitchFamily="34" charset="0"/>
              </a:rPr>
              <a:t>Controller Array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3304FBE-99DF-EE64-5EB2-94852307E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7834" y="2843715"/>
            <a:ext cx="9926994" cy="1791056"/>
          </a:xfrm>
        </p:spPr>
        <p:txBody>
          <a:bodyPr>
            <a:noAutofit/>
          </a:bodyPr>
          <a:lstStyle/>
          <a:p>
            <a:r>
              <a:rPr lang="de-DE" sz="3000" dirty="0" err="1">
                <a:ea typeface="+mn-lt"/>
                <a:cs typeface="+mn-lt"/>
              </a:rPr>
              <a:t>GamepadPtr</a:t>
            </a:r>
            <a:r>
              <a:rPr lang="de-DE" sz="3000" dirty="0">
                <a:ea typeface="+mn-lt"/>
                <a:cs typeface="+mn-lt"/>
              </a:rPr>
              <a:t> </a:t>
            </a:r>
            <a:r>
              <a:rPr lang="de-DE" sz="3000" dirty="0" err="1">
                <a:ea typeface="+mn-lt"/>
                <a:cs typeface="+mn-lt"/>
              </a:rPr>
              <a:t>myGamepads</a:t>
            </a:r>
            <a:r>
              <a:rPr lang="de-DE" sz="3000" dirty="0">
                <a:ea typeface="+mn-lt"/>
                <a:cs typeface="+mn-lt"/>
              </a:rPr>
              <a:t>[BP32_MAX_GAMEPADS];</a:t>
            </a:r>
            <a:endParaRPr lang="en-US" sz="3200" dirty="0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B753068-DCEB-B788-AD32-F324BF9F36F0}"/>
              </a:ext>
            </a:extLst>
          </p:cNvPr>
          <p:cNvCxnSpPr/>
          <p:nvPr/>
        </p:nvCxnSpPr>
        <p:spPr>
          <a:xfrm>
            <a:off x="1738604" y="987263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917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D0774-18A2-673D-283B-1C04DB363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100"/>
            <a:ext cx="9144000" cy="926225"/>
          </a:xfrm>
        </p:spPr>
        <p:txBody>
          <a:bodyPr>
            <a:normAutofit/>
          </a:bodyPr>
          <a:lstStyle/>
          <a:p>
            <a:r>
              <a:rPr lang="de-DE" dirty="0">
                <a:latin typeface="Impact" panose="020B0806030902050204" pitchFamily="34" charset="0"/>
              </a:rPr>
              <a:t>Callback Funktion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3304FBE-99DF-EE64-5EB2-94852307E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30532"/>
            <a:ext cx="9926994" cy="1791056"/>
          </a:xfrm>
        </p:spPr>
        <p:txBody>
          <a:bodyPr>
            <a:noAutofit/>
          </a:bodyPr>
          <a:lstStyle/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de-DE" sz="2500" dirty="0">
                <a:ea typeface="+mn-lt"/>
                <a:cs typeface="+mn-lt"/>
              </a:rPr>
              <a:t>Alle 4 Slots im Array durchsuchen</a:t>
            </a:r>
            <a:endParaRPr lang="en-US" sz="2500" dirty="0"/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de-DE" sz="2500" dirty="0">
                <a:ea typeface="+mn-lt"/>
                <a:cs typeface="+mn-lt"/>
              </a:rPr>
              <a:t>Ersten leeren Slot (</a:t>
            </a:r>
            <a:r>
              <a:rPr lang="de-DE" sz="2500" dirty="0" err="1">
                <a:latin typeface="Aptos"/>
              </a:rPr>
              <a:t>nullptr</a:t>
            </a:r>
            <a:r>
              <a:rPr lang="de-DE" sz="2500" dirty="0">
                <a:ea typeface="+mn-lt"/>
                <a:cs typeface="+mn-lt"/>
              </a:rPr>
              <a:t>) suchen</a:t>
            </a:r>
            <a:endParaRPr lang="de-DE" sz="2500" dirty="0"/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de-DE" sz="2500" dirty="0">
                <a:ea typeface="+mn-lt"/>
                <a:cs typeface="+mn-lt"/>
              </a:rPr>
              <a:t>Controller-Pointer in den freien Slot eintragen</a:t>
            </a:r>
            <a:endParaRPr lang="de-DE" sz="2500" dirty="0"/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de-DE" sz="2500" dirty="0">
                <a:ea typeface="+mn-lt"/>
                <a:cs typeface="+mn-lt"/>
              </a:rPr>
              <a:t>Falls kein freier Slot → Fehlermeldung im Serial Monitor ausgeben</a:t>
            </a:r>
            <a:endParaRPr lang="de-DE" sz="2500" dirty="0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B753068-DCEB-B788-AD32-F324BF9F36F0}"/>
              </a:ext>
            </a:extLst>
          </p:cNvPr>
          <p:cNvCxnSpPr/>
          <p:nvPr/>
        </p:nvCxnSpPr>
        <p:spPr>
          <a:xfrm>
            <a:off x="1738604" y="987263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1270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D0774-18A2-673D-283B-1C04DB363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100"/>
            <a:ext cx="9144000" cy="926225"/>
          </a:xfrm>
        </p:spPr>
        <p:txBody>
          <a:bodyPr>
            <a:normAutofit/>
          </a:bodyPr>
          <a:lstStyle/>
          <a:p>
            <a:r>
              <a:rPr lang="de-DE" dirty="0">
                <a:latin typeface="Impact" panose="020B0806030902050204" pitchFamily="34" charset="0"/>
              </a:rPr>
              <a:t>Setup()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3304FBE-99DF-EE64-5EB2-94852307E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32466"/>
            <a:ext cx="9926994" cy="1791056"/>
          </a:xfrm>
        </p:spPr>
        <p:txBody>
          <a:bodyPr>
            <a:noAutofit/>
          </a:bodyPr>
          <a:lstStyle/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de-DE" sz="2500" dirty="0">
                <a:ea typeface="+mn-lt"/>
                <a:cs typeface="+mn-lt"/>
              </a:rPr>
              <a:t>Serielle Kommunikation starten (Serial Monitor)</a:t>
            </a:r>
            <a:endParaRPr lang="en-US" sz="2500" dirty="0"/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de-DE" sz="2500" dirty="0">
                <a:ea typeface="+mn-lt"/>
                <a:cs typeface="+mn-lt"/>
              </a:rPr>
              <a:t>Firmware-Version und Bluetooth-Adresse des ESP32 ausgeben</a:t>
            </a:r>
            <a:endParaRPr lang="de-DE" sz="2500" dirty="0"/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de-DE" sz="2500" dirty="0">
                <a:ea typeface="+mn-lt"/>
                <a:cs typeface="+mn-lt"/>
              </a:rPr>
              <a:t>Bluetooth-</a:t>
            </a:r>
            <a:r>
              <a:rPr lang="de-DE" sz="2500" dirty="0" err="1">
                <a:ea typeface="+mn-lt"/>
                <a:cs typeface="+mn-lt"/>
              </a:rPr>
              <a:t>Callbacks</a:t>
            </a:r>
            <a:r>
              <a:rPr lang="de-DE" sz="2500" dirty="0">
                <a:ea typeface="+mn-lt"/>
                <a:cs typeface="+mn-lt"/>
              </a:rPr>
              <a:t> bei Bluepad32 registrieren</a:t>
            </a:r>
            <a:endParaRPr lang="de-DE" sz="2500" dirty="0"/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de-DE" sz="2500" dirty="0">
                <a:ea typeface="+mn-lt"/>
                <a:cs typeface="+mn-lt"/>
              </a:rPr>
              <a:t>Alte Bluetooth-Paarungsschlüssel löschen</a:t>
            </a:r>
            <a:endParaRPr lang="de-DE" sz="2500" dirty="0"/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de-DE" sz="2500" dirty="0" err="1">
                <a:ea typeface="+mn-lt"/>
                <a:cs typeface="+mn-lt"/>
              </a:rPr>
              <a:t>Enable</a:t>
            </a:r>
            <a:r>
              <a:rPr lang="de-DE" sz="2500" dirty="0">
                <a:ea typeface="+mn-lt"/>
                <a:cs typeface="+mn-lt"/>
              </a:rPr>
              <a:t>-Pins der beiden BTS7960 auf OUTPUT setzen und dauerhaft HIGH schalten</a:t>
            </a:r>
            <a:endParaRPr lang="de-DE" sz="2500" dirty="0"/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de-DE" sz="2500" dirty="0">
                <a:ea typeface="+mn-lt"/>
                <a:cs typeface="+mn-lt"/>
              </a:rPr>
              <a:t>LEDC-Kanäle konfigurieren (Frequenz + Auflösung)</a:t>
            </a:r>
            <a:endParaRPr lang="de-DE" sz="2500" dirty="0"/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de-DE" sz="2500" dirty="0">
                <a:ea typeface="+mn-lt"/>
                <a:cs typeface="+mn-lt"/>
              </a:rPr>
              <a:t>LEDC-Kanäle mit den physischen Pins verbinden</a:t>
            </a:r>
            <a:endParaRPr lang="de-DE" sz="2500" dirty="0"/>
          </a:p>
          <a:p>
            <a:pPr algn="l"/>
            <a:endParaRPr lang="de-DE" sz="2500" dirty="0">
              <a:latin typeface="Liberation Sans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B753068-DCEB-B788-AD32-F324BF9F36F0}"/>
              </a:ext>
            </a:extLst>
          </p:cNvPr>
          <p:cNvCxnSpPr/>
          <p:nvPr/>
        </p:nvCxnSpPr>
        <p:spPr>
          <a:xfrm>
            <a:off x="1738604" y="987263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14721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D0774-18A2-673D-283B-1C04DB363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100"/>
            <a:ext cx="9144000" cy="926225"/>
          </a:xfrm>
        </p:spPr>
        <p:txBody>
          <a:bodyPr>
            <a:normAutofit/>
          </a:bodyPr>
          <a:lstStyle/>
          <a:p>
            <a:r>
              <a:rPr lang="de-DE" dirty="0">
                <a:latin typeface="Impact" panose="020B0806030902050204" pitchFamily="34" charset="0"/>
              </a:rPr>
              <a:t>Loop()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3304FBE-99DF-EE64-5EB2-94852307E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38604" y="2431047"/>
            <a:ext cx="9926994" cy="1791056"/>
          </a:xfrm>
        </p:spPr>
        <p:txBody>
          <a:bodyPr>
            <a:noAutofit/>
          </a:bodyPr>
          <a:lstStyle/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de-DE" sz="2500" dirty="0"/>
              <a:t>Joystick-Werte des linken und rechten Sticks auslesen</a:t>
            </a:r>
            <a:endParaRPr lang="en-US" sz="2500" dirty="0"/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de-DE" sz="2500" dirty="0" err="1"/>
              <a:t>Deadzone</a:t>
            </a:r>
            <a:r>
              <a:rPr lang="de-DE" sz="2500" dirty="0"/>
              <a:t> prüfen — wenn Stick in der Mitte → Motor </a:t>
            </a:r>
            <a:r>
              <a:rPr lang="de-DE" sz="2500" dirty="0" err="1"/>
              <a:t>stop</a:t>
            </a:r>
            <a:endParaRPr lang="de-DE" sz="2500" dirty="0"/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de-DE" sz="2500" dirty="0"/>
              <a:t>Richtung bestimmen — negativ = vorwärts, positiv = rückwärts</a:t>
            </a: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de-DE" sz="2500" dirty="0"/>
              <a:t>Joystick-Wert mit </a:t>
            </a:r>
            <a:r>
              <a:rPr lang="de-DE" sz="2500" dirty="0" err="1"/>
              <a:t>map</a:t>
            </a:r>
            <a:r>
              <a:rPr lang="de-DE" sz="2500" dirty="0"/>
              <a:t>() auf PWM-Bereich 0–255 skalieren</a:t>
            </a: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de-DE" sz="2500" dirty="0"/>
              <a:t>PWM-Wert mit </a:t>
            </a:r>
            <a:r>
              <a:rPr lang="de-DE" sz="2500" dirty="0" err="1"/>
              <a:t>constrain</a:t>
            </a:r>
            <a:r>
              <a:rPr lang="de-DE" sz="2500" dirty="0"/>
              <a:t>() absichern</a:t>
            </a: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de-DE" sz="2500" dirty="0"/>
              <a:t>PWM-Signal per </a:t>
            </a:r>
            <a:r>
              <a:rPr lang="de-DE" sz="2500" dirty="0" err="1"/>
              <a:t>ledcWrite</a:t>
            </a:r>
            <a:r>
              <a:rPr lang="de-DE" sz="2500" dirty="0"/>
              <a:t>() auf den Motor schreiben</a:t>
            </a:r>
          </a:p>
          <a:p>
            <a:pPr algn="l"/>
            <a:endParaRPr lang="de-DE" sz="2500" dirty="0">
              <a:latin typeface="Liberation Sans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B753068-DCEB-B788-AD32-F324BF9F36F0}"/>
              </a:ext>
            </a:extLst>
          </p:cNvPr>
          <p:cNvCxnSpPr/>
          <p:nvPr/>
        </p:nvCxnSpPr>
        <p:spPr>
          <a:xfrm>
            <a:off x="1738604" y="987263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51579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D0774-18A2-673D-283B-1C04DB363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69579"/>
            <a:ext cx="9144000" cy="2387600"/>
          </a:xfrm>
        </p:spPr>
        <p:txBody>
          <a:bodyPr>
            <a:normAutofit fontScale="90000"/>
          </a:bodyPr>
          <a:lstStyle/>
          <a:p>
            <a:br>
              <a:rPr lang="de-DE" sz="10000" dirty="0">
                <a:latin typeface="Impact" panose="020B0806030902050204" pitchFamily="34" charset="0"/>
              </a:rPr>
            </a:br>
            <a:r>
              <a:rPr lang="de-DE" sz="10000" dirty="0">
                <a:latin typeface="Impact" panose="020B0806030902050204" pitchFamily="34" charset="0"/>
              </a:rPr>
              <a:t>Allgemeines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B753068-DCEB-B788-AD32-F324BF9F36F0}"/>
              </a:ext>
            </a:extLst>
          </p:cNvPr>
          <p:cNvCxnSpPr/>
          <p:nvPr/>
        </p:nvCxnSpPr>
        <p:spPr>
          <a:xfrm>
            <a:off x="1698171" y="3830217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51361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D0774-18A2-673D-283B-1C04DB363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100"/>
            <a:ext cx="9144000" cy="926225"/>
          </a:xfrm>
        </p:spPr>
        <p:txBody>
          <a:bodyPr>
            <a:normAutofit/>
          </a:bodyPr>
          <a:lstStyle/>
          <a:p>
            <a:r>
              <a:rPr lang="de-DE" dirty="0">
                <a:latin typeface="Impact" panose="020B0806030902050204" pitchFamily="34" charset="0"/>
              </a:rPr>
              <a:t>Allgemeines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B753068-DCEB-B788-AD32-F324BF9F36F0}"/>
              </a:ext>
            </a:extLst>
          </p:cNvPr>
          <p:cNvCxnSpPr/>
          <p:nvPr/>
        </p:nvCxnSpPr>
        <p:spPr>
          <a:xfrm>
            <a:off x="1738604" y="987263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6C315D31-345E-FA34-807F-3462BB6049B9}"/>
              </a:ext>
            </a:extLst>
          </p:cNvPr>
          <p:cNvSpPr txBox="1"/>
          <p:nvPr/>
        </p:nvSpPr>
        <p:spPr>
          <a:xfrm>
            <a:off x="1861457" y="2644170"/>
            <a:ext cx="8469086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de-DE" sz="2500" dirty="0" err="1"/>
              <a:t>Github</a:t>
            </a:r>
            <a:r>
              <a:rPr lang="de-DE" sz="2500" dirty="0"/>
              <a:t> als Kommunikationsplattform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de-DE" sz="2500" dirty="0"/>
              <a:t>Ungelöste Probleme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de-DE" sz="2500" dirty="0"/>
              <a:t>Arbeitsteilung</a:t>
            </a:r>
          </a:p>
        </p:txBody>
      </p:sp>
    </p:spTree>
    <p:extLst>
      <p:ext uri="{BB962C8B-B14F-4D97-AF65-F5344CB8AC3E}">
        <p14:creationId xmlns:p14="http://schemas.microsoft.com/office/powerpoint/2010/main" val="24013504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D0774-18A2-673D-283B-1C04DB363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053"/>
            <a:ext cx="9144000" cy="945272"/>
          </a:xfrm>
        </p:spPr>
        <p:txBody>
          <a:bodyPr>
            <a:normAutofit/>
          </a:bodyPr>
          <a:lstStyle/>
          <a:p>
            <a:r>
              <a:rPr lang="de-DE" dirty="0">
                <a:latin typeface="Impact" panose="020B0806030902050204" pitchFamily="34" charset="0"/>
              </a:rPr>
              <a:t>Quellen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3304FBE-99DF-EE64-5EB2-94852307E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3713" y="1637944"/>
            <a:ext cx="9144000" cy="1791056"/>
          </a:xfrm>
        </p:spPr>
        <p:txBody>
          <a:bodyPr>
            <a:noAutofit/>
          </a:bodyPr>
          <a:lstStyle/>
          <a:p>
            <a:pPr algn="l"/>
            <a:r>
              <a:rPr lang="de-DE" sz="30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Code Dokumentation:</a:t>
            </a:r>
          </a:p>
          <a:p>
            <a:pPr algn="l"/>
            <a:r>
              <a:rPr lang="de-DE" sz="2500" dirty="0">
                <a:ea typeface="+mn-lt"/>
                <a:cs typeface="+mn-lt"/>
                <a:hlinkClick r:id="rId2"/>
              </a:rPr>
              <a:t>https://bluepad32.readthedocs.io/en/latest/plat_arduino/</a:t>
            </a:r>
            <a:endParaRPr lang="de-DE" sz="2500" dirty="0">
              <a:ea typeface="+mn-lt"/>
              <a:cs typeface="+mn-lt"/>
            </a:endParaRPr>
          </a:p>
          <a:p>
            <a:pPr algn="l"/>
            <a:r>
              <a:rPr lang="de-DE" sz="30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Zusätzliche Board </a:t>
            </a:r>
            <a:r>
              <a:rPr lang="de-DE" sz="3000" dirty="0" err="1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URL‘s</a:t>
            </a:r>
            <a:r>
              <a:rPr lang="de-DE" sz="30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:</a:t>
            </a:r>
          </a:p>
          <a:p>
            <a:pPr algn="l"/>
            <a:r>
              <a:rPr lang="de-DE" sz="2500" dirty="0">
                <a:ea typeface="+mn-lt"/>
                <a:cs typeface="+mn-lt"/>
                <a:hlinkClick r:id="rId3"/>
              </a:rPr>
              <a:t>https://raw.githubusercontent.com/espressif/arduino-esp32/gh-pages/package_esp32_index.json</a:t>
            </a:r>
            <a:endParaRPr lang="de-DE" sz="2500" dirty="0">
              <a:ea typeface="+mn-lt"/>
              <a:cs typeface="+mn-lt"/>
            </a:endParaRPr>
          </a:p>
          <a:p>
            <a:pPr algn="l"/>
            <a:r>
              <a:rPr lang="de-DE" sz="2500" dirty="0">
                <a:ea typeface="+mn-lt"/>
                <a:cs typeface="+mn-lt"/>
                <a:hlinkClick r:id="rId4"/>
              </a:rPr>
              <a:t>https://raw.githubusercontent.com/ricardoquesada/esp32-arduino-lib-builder/master/bluepad32_files/package_esp32_bluepad32_index.json</a:t>
            </a:r>
            <a:endParaRPr lang="de-DE" sz="2500" dirty="0">
              <a:ea typeface="+mn-lt"/>
              <a:cs typeface="+mn-lt"/>
            </a:endParaRPr>
          </a:p>
          <a:p>
            <a:pPr algn="l"/>
            <a:endParaRPr lang="de-DE" sz="3000" dirty="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algn="l"/>
            <a:endParaRPr lang="de-DE" sz="3000" dirty="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B753068-DCEB-B788-AD32-F324BF9F36F0}"/>
              </a:ext>
            </a:extLst>
          </p:cNvPr>
          <p:cNvCxnSpPr/>
          <p:nvPr/>
        </p:nvCxnSpPr>
        <p:spPr>
          <a:xfrm>
            <a:off x="1602921" y="1034888"/>
            <a:ext cx="8714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9731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611</Words>
  <Application>Microsoft Office PowerPoint</Application>
  <PresentationFormat>Breitbild</PresentationFormat>
  <Paragraphs>127</Paragraphs>
  <Slides>28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28</vt:i4>
      </vt:variant>
    </vt:vector>
  </HeadingPairs>
  <TitlesOfParts>
    <vt:vector size="35" baseType="lpstr">
      <vt:lpstr>Aptos</vt:lpstr>
      <vt:lpstr>Aptos Display</vt:lpstr>
      <vt:lpstr>Arial</vt:lpstr>
      <vt:lpstr>Impact</vt:lpstr>
      <vt:lpstr>Liberation Sans</vt:lpstr>
      <vt:lpstr>Wingdings</vt:lpstr>
      <vt:lpstr>Office</vt:lpstr>
      <vt:lpstr>Kettenfahrzeug</vt:lpstr>
      <vt:lpstr>Inhaltsverzeichnis</vt:lpstr>
      <vt:lpstr>Konstruktion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Elektronik</vt:lpstr>
      <vt:lpstr>Elektronik</vt:lpstr>
      <vt:lpstr>PowerPoint-Präsentation</vt:lpstr>
      <vt:lpstr> Programmierung</vt:lpstr>
      <vt:lpstr>Programmierung</vt:lpstr>
      <vt:lpstr>1. Schritt</vt:lpstr>
      <vt:lpstr>2. Schritt</vt:lpstr>
      <vt:lpstr>3. Schritt</vt:lpstr>
      <vt:lpstr>Code</vt:lpstr>
      <vt:lpstr>Bibliotheken</vt:lpstr>
      <vt:lpstr>Konstanten definieren</vt:lpstr>
      <vt:lpstr>Controller Array</vt:lpstr>
      <vt:lpstr>Callback Funktion</vt:lpstr>
      <vt:lpstr>Setup()</vt:lpstr>
      <vt:lpstr>Loop()</vt:lpstr>
      <vt:lpstr> Allgemeines</vt:lpstr>
      <vt:lpstr>Allgemeines</vt:lpstr>
      <vt:lpstr>Quellen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Julian Timmann</dc:creator>
  <cp:lastModifiedBy>Julian Timmann</cp:lastModifiedBy>
  <cp:revision>19</cp:revision>
  <dcterms:created xsi:type="dcterms:W3CDTF">2026-03-20T17:23:07Z</dcterms:created>
  <dcterms:modified xsi:type="dcterms:W3CDTF">2026-03-23T08:47:09Z</dcterms:modified>
</cp:coreProperties>
</file>