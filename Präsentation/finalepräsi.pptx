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1" r:id="rId4"/>
    <p:sldId id="266" r:id="rId5"/>
    <p:sldId id="268" r:id="rId6"/>
    <p:sldId id="270" r:id="rId7"/>
    <p:sldId id="285" r:id="rId8"/>
    <p:sldId id="269" r:id="rId9"/>
    <p:sldId id="274" r:id="rId10"/>
    <p:sldId id="267" r:id="rId11"/>
    <p:sldId id="262" r:id="rId12"/>
    <p:sldId id="259" r:id="rId13"/>
    <p:sldId id="260" r:id="rId14"/>
    <p:sldId id="263" r:id="rId15"/>
    <p:sldId id="264" r:id="rId16"/>
    <p:sldId id="275" r:id="rId17"/>
    <p:sldId id="276" r:id="rId18"/>
    <p:sldId id="277" r:id="rId19"/>
    <p:sldId id="278" r:id="rId20"/>
    <p:sldId id="279" r:id="rId21"/>
    <p:sldId id="293" r:id="rId22"/>
    <p:sldId id="294" r:id="rId23"/>
    <p:sldId id="286" r:id="rId24"/>
    <p:sldId id="287" r:id="rId25"/>
    <p:sldId id="288" r:id="rId26"/>
    <p:sldId id="290" r:id="rId27"/>
    <p:sldId id="291" r:id="rId28"/>
    <p:sldId id="292" r:id="rId29"/>
    <p:sldId id="271" r:id="rId30"/>
    <p:sldId id="272" r:id="rId31"/>
    <p:sldId id="265" r:id="rId32"/>
    <p:sldId id="295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D918A-CE72-9ED3-3D11-DCD057D1BF4D}" v="582" dt="2026-03-25T20:17:15.044"/>
    <p1510:client id="{D8D15FF6-3C1C-0895-BAF0-ADE2C14ED37B}" v="108" dt="2026-03-24T18:49:17.522"/>
    <p1510:client id="{E6A47881-A513-5634-6CDD-22D40E1A1029}" v="405" dt="2026-03-25T21:42:06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6FDA6-0D6A-4597-A732-5CBC71724CDA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369B-F521-4A54-8E7A-0C98057A3B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8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42577-1FA2-42C7-9E47-9CB6E13CD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05FF6F-2355-686C-5FEE-368C6392E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A18E6B-5DE5-3183-152B-F9AD0430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DFD8F0-687D-772A-AC5A-D4A706E0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CD3411-009D-D91B-9D82-F9BB7730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37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A4646-BDA6-D468-7B4A-397B8ABC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3D7EB6-6761-42B7-F60F-E49037BD6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BD68BF-9FBF-49EB-03A2-4DEE49D8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A824BE-6E70-52CA-20CE-29EE293E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F0AE7F-E53F-AD49-61A9-C689E78D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46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89F35-A46B-0F75-D435-24BD5A30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8F60D7-7F6E-86AC-8080-53A193861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F3550A-2109-62E4-F1D7-EC0E1EFB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088FAA-F176-1A78-11DF-4C3B07FB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84B214-79F3-489D-C376-EC517963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07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5429E-1311-F36B-BF21-A5859E4B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60C8E5-0F2D-56B0-42ED-4A98D5E15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A11E3F-CD67-7524-5851-BAA9FC1E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F3D053-23FA-90CF-2EC9-F83997EC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A38F40-FF57-D23F-9BE0-30C7B2E9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17491D-6278-6A12-4B47-CCBC4468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98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7B0FB-0604-3338-18BF-6BC163F9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D837BF-F998-FB4B-1F39-476C0F02D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39895E-8A3E-CC00-B2DE-5C1E4DBF3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508FA9-EEC7-7757-E40B-6138FEA67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029139-029A-6177-C720-1DD0C86AC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AF0E26-F35B-A153-074B-C6789779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04E808-3E3B-4A29-DED0-67C8AD88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E87817-80C7-B56C-E6BB-F96E5670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04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9FEC9-8E36-61AC-9B40-9FE94C4A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0178E6-FBFA-BA80-81BD-F0C90390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04A6EB-967E-8566-DDD3-55E9738A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365DE2-7BB0-9567-5DEE-C85DA01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010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FEFAC0E-37ED-F3EC-1C5C-5F3FDC9F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C6FFD0-5CC2-A17A-29B9-655E8ABF1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1DE84A-8626-7CDB-83BB-E1B679DD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01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A74EF-91FB-348B-E106-6D1C71AF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8926F-0AE1-7247-0192-C8F851924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A57CBB-A458-41A2-0F0C-1FD035B17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24BBE1-CDC4-7476-8A1C-EC0D8C6B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D5F515-75B7-B63F-0C0A-1CE49634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95DBA1-7400-7EB9-03B4-78070A47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02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02B41-9462-389E-7F6D-ACED4959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6C68027-E9E9-613D-6168-3B025B765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3E3E24-B245-C364-E9B4-ADDD2433A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CEE303-8E09-8982-7C64-D957F28D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7DBB6F-405D-F385-2483-C913DB5D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1211CE-356D-239B-0029-3A51D299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75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56FBF-78C4-2E4F-11AF-DCF4E96A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9ED72E-C9E3-43A0-0339-5B6B4A162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0FA7DF-A98A-3D13-F4A1-E82A491E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52BBD-9329-6721-5F8E-97CA4A50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97D67F-6032-98FC-17B2-7F60B55C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92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0F555B0-56EE-6F68-E8AF-2818748E7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E6A1CE-18EF-D91F-D293-83DC5E72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4AC24B-F37B-F54B-F159-8BFA2295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8FDEE5-DDF3-AB19-FC9F-1B4F172C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B29BB2-3F32-E34F-6AB4-4A54B6D8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52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CAEDB7-4072-5897-3AF2-8117338F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22E162-9FC6-A9CD-AFE7-D456D8964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30B47E-3815-7E9D-6890-D748C1D78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CC8E3-8B86-4C26-9958-4FB51168DB0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4C9F06-3844-9A50-4700-DC3D5AC31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943736-96F9-5ED8-8085-5A3CD1FCA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7D397-DC65-4305-8C59-DEADE5E29F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99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espressif/arduino-esp32/gh-pages/package_esp32_index.json" TargetMode="External"/><Relationship Id="rId2" Type="http://schemas.openxmlformats.org/officeDocument/2006/relationships/hyperlink" Target="https://bluepad32.readthedocs.io/en/latest/plat_arduino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aw.githubusercontent.com/ricardoquesada/esp32-arduino-lib-builder/master/bluepad32_files/package_esp32_bluepad32_index.json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de-DE" sz="10000">
                <a:latin typeface="Impact" panose="020B0806030902050204" pitchFamily="34" charset="0"/>
              </a:rPr>
              <a:t>Kettenfahrzeug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2585"/>
            <a:ext cx="9144000" cy="587407"/>
          </a:xfrm>
        </p:spPr>
        <p:txBody>
          <a:bodyPr/>
          <a:lstStyle/>
          <a:p>
            <a:r>
              <a:rPr lang="de-DE" i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Semesterprojekt von Lasse, Hossein, Julian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429000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5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81393"/>
            <a:ext cx="9144000" cy="1241941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Inhaltsverzeichnis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7424" y="2533472"/>
            <a:ext cx="5197151" cy="1791056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Konstruktion und Planung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Elektronik und Verkabelung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Programmierung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Allgemeines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1137542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87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/>
          </a:bodyPr>
          <a:lstStyle/>
          <a:p>
            <a:r>
              <a:rPr lang="de-DE" sz="10000">
                <a:latin typeface="Impact" panose="020B0806030902050204" pitchFamily="34" charset="0"/>
              </a:rPr>
              <a:t>Konstruktion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635"/>
            <a:ext cx="9144000" cy="1791056"/>
          </a:xfrm>
        </p:spPr>
        <p:txBody>
          <a:bodyPr>
            <a:noAutofit/>
          </a:bodyPr>
          <a:lstStyle/>
          <a:p>
            <a:r>
              <a:rPr lang="de-DE" sz="3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Lasse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46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7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Rahmen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F7506FDB-45FA-1744-3418-9C5A47501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65" y="1508851"/>
            <a:ext cx="8714793" cy="4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2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7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Weitere Teile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EA13F5A4-757A-5D19-E1BF-CE2BF15D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17"/>
          <a:stretch/>
        </p:blipFill>
        <p:spPr>
          <a:xfrm>
            <a:off x="1576168" y="1780971"/>
            <a:ext cx="2650106" cy="395807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3B4D3C1-839B-CE86-0FA3-E04E8B522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006"/>
          <a:stretch/>
        </p:blipFill>
        <p:spPr>
          <a:xfrm>
            <a:off x="4770947" y="1780972"/>
            <a:ext cx="2650106" cy="395807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C5CCE42-FBEE-5BF3-B4C4-86B7174B0B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958"/>
          <a:stretch/>
        </p:blipFill>
        <p:spPr>
          <a:xfrm>
            <a:off x="7965727" y="1780972"/>
            <a:ext cx="2325233" cy="39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2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2524664" y="0"/>
            <a:ext cx="7142672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Kabelmanagement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Grafik 6" descr="Ein Bild, das Elektrische Leitungen, Elektronik, Kabel, Maschine enthält.&#10;&#10;KI-generierte Inhalte können fehlerhaft sein.">
            <a:extLst>
              <a:ext uri="{FF2B5EF4-FFF2-40B4-BE49-F238E27FC236}">
                <a16:creationId xmlns:a16="http://schemas.microsoft.com/office/drawing/2014/main" id="{F28C137B-6883-43F6-7B6F-4E369A70B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7" y="1822184"/>
            <a:ext cx="8709803" cy="391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2524664" y="0"/>
            <a:ext cx="7142672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Kabelmanagement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732B8105-3980-367C-3866-F5279BCDA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"/>
          <a:stretch/>
        </p:blipFill>
        <p:spPr>
          <a:xfrm rot="16200000">
            <a:off x="3818879" y="-756249"/>
            <a:ext cx="4252582" cy="87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2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6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Fahrgestell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738604" y="1110800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A8F6D6A0-ECC8-EB46-7E96-C6A52450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03" y="1712150"/>
            <a:ext cx="8714792" cy="40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0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6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Fahrgestell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738604" y="1110800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Grafik 7" descr="Ein Bild, das Rad, Autoteile, Reifen, Spielzeug enthält.&#10;&#10;KI-generierte Inhalte können fehlerhaft sein.">
            <a:extLst>
              <a:ext uri="{FF2B5EF4-FFF2-40B4-BE49-F238E27FC236}">
                <a16:creationId xmlns:a16="http://schemas.microsoft.com/office/drawing/2014/main" id="{FCF7DE57-E8F5-57E6-6CAD-66BA149D5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04" y="2005834"/>
            <a:ext cx="8714792" cy="39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1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6168" y="2108888"/>
            <a:ext cx="2639330" cy="3554980"/>
          </a:xfrm>
        </p:spPr>
        <p:txBody>
          <a:bodyPr>
            <a:noAutofit/>
          </a:bodyPr>
          <a:lstStyle/>
          <a:p>
            <a:r>
              <a:rPr lang="de-DE" sz="2000" b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Positiv</a:t>
            </a:r>
          </a:p>
          <a:p>
            <a:pPr algn="l"/>
            <a:endParaRPr lang="de-DE" sz="2000" b="1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Doppeltes Fahrgestell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Modulares System mit vielen externen Teilen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Flexibilität des Materials ist ein Vorteil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7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latin typeface="Impact" panose="020B0806030902050204" pitchFamily="34" charset="0"/>
              </a:rPr>
              <a:t>Zwischenfazit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Untertitel 2">
            <a:extLst>
              <a:ext uri="{FF2B5EF4-FFF2-40B4-BE49-F238E27FC236}">
                <a16:creationId xmlns:a16="http://schemas.microsoft.com/office/drawing/2014/main" id="{3E9646A3-113F-3764-D676-70FA6CA8883E}"/>
              </a:ext>
            </a:extLst>
          </p:cNvPr>
          <p:cNvSpPr txBox="1">
            <a:spLocks/>
          </p:cNvSpPr>
          <p:nvPr/>
        </p:nvSpPr>
        <p:spPr>
          <a:xfrm>
            <a:off x="4672302" y="1651510"/>
            <a:ext cx="2639330" cy="3554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de-DE" sz="2000" b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Negativ</a:t>
            </a:r>
          </a:p>
          <a:p>
            <a:pPr algn="l"/>
            <a:endParaRPr lang="de-DE" sz="2000" b="1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Viele Testdrucke notwendig (Material- und Zeitaufwand)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Millimeter können ein Modell unbrauchbar machen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F7F370D7-3BCE-781E-2D22-81B61AD8BA4A}"/>
              </a:ext>
            </a:extLst>
          </p:cNvPr>
          <p:cNvSpPr txBox="1">
            <a:spLocks/>
          </p:cNvSpPr>
          <p:nvPr/>
        </p:nvSpPr>
        <p:spPr>
          <a:xfrm>
            <a:off x="7651630" y="2095322"/>
            <a:ext cx="2639330" cy="179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Allgemein</a:t>
            </a:r>
          </a:p>
          <a:p>
            <a:pPr algn="l"/>
            <a:endParaRPr lang="de-DE" sz="2000" b="1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Frühe durchdachte Planung lohnt sich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3D-Druck-Ungenauigkeiten antizipieren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Improvisation ist oft notwendig</a:t>
            </a:r>
          </a:p>
        </p:txBody>
      </p:sp>
    </p:spTree>
    <p:extLst>
      <p:ext uri="{BB962C8B-B14F-4D97-AF65-F5344CB8AC3E}">
        <p14:creationId xmlns:p14="http://schemas.microsoft.com/office/powerpoint/2010/main" val="177906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/>
          </a:bodyPr>
          <a:lstStyle/>
          <a:p>
            <a:r>
              <a:rPr lang="de-DE" sz="10000">
                <a:latin typeface="Impact" panose="020B0806030902050204" pitchFamily="34" charset="0"/>
              </a:rPr>
              <a:t>Elektronik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635"/>
            <a:ext cx="9144000" cy="1791056"/>
          </a:xfrm>
        </p:spPr>
        <p:txBody>
          <a:bodyPr>
            <a:noAutofit/>
          </a:bodyPr>
          <a:lstStyle/>
          <a:p>
            <a:r>
              <a:rPr lang="de-DE" sz="3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Julian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9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0485" y="39054"/>
            <a:ext cx="3331029" cy="1019204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Elektronik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849" y="2533471"/>
            <a:ext cx="9144000" cy="3848665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11.1V 3500mAh - Akku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2x BTS7960 43A – H-Brücke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2x JGB37-520 12V Motor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LM2596 – Buck-Converter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ESP32 Dev-Module (38 Pins)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Grafik 5" descr="Ein Bild, das Text, Allgemeine Versorgung, Büroausstattung, Etikett enthält.&#10;&#10;KI-generierte Inhalte können fehlerhaft sein.">
            <a:extLst>
              <a:ext uri="{FF2B5EF4-FFF2-40B4-BE49-F238E27FC236}">
                <a16:creationId xmlns:a16="http://schemas.microsoft.com/office/drawing/2014/main" id="{B109BC79-F612-DA75-4651-5C4278F2E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372" y="1986084"/>
            <a:ext cx="2232463" cy="1777916"/>
          </a:xfrm>
          <a:prstGeom prst="rect">
            <a:avLst/>
          </a:prstGeom>
        </p:spPr>
      </p:pic>
      <p:pic>
        <p:nvPicPr>
          <p:cNvPr id="8" name="Grafik 7" descr="Ein Bild, das Elektronik, Elektronisches Bauteil, Elektrisches Bauelement, Schaltung enthält.&#10;&#10;KI-generierte Inhalte können fehlerhaft sein.">
            <a:extLst>
              <a:ext uri="{FF2B5EF4-FFF2-40B4-BE49-F238E27FC236}">
                <a16:creationId xmlns:a16="http://schemas.microsoft.com/office/drawing/2014/main" id="{AF376ADC-B7DD-2D3B-0180-9FCFD057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044" y="4279431"/>
            <a:ext cx="1776107" cy="1535419"/>
          </a:xfrm>
          <a:prstGeom prst="rect">
            <a:avLst/>
          </a:prstGeom>
        </p:spPr>
      </p:pic>
      <p:pic>
        <p:nvPicPr>
          <p:cNvPr id="10" name="Grafik 9" descr="Ein Bild, das Elektronik, Elektrisches Bauelement, Elektronisches Bauteil, Schaltung enthält.&#10;&#10;KI-generierte Inhalte können fehlerhaft sein.">
            <a:extLst>
              <a:ext uri="{FF2B5EF4-FFF2-40B4-BE49-F238E27FC236}">
                <a16:creationId xmlns:a16="http://schemas.microsoft.com/office/drawing/2014/main" id="{2C6DB4DF-7CAC-76B2-14FF-CF0AFF5F5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633" y="2043827"/>
            <a:ext cx="2232464" cy="2050686"/>
          </a:xfrm>
          <a:prstGeom prst="rect">
            <a:avLst/>
          </a:prstGeom>
        </p:spPr>
      </p:pic>
      <p:pic>
        <p:nvPicPr>
          <p:cNvPr id="12" name="Grafik 11" descr="Ein Bild, das Röhre enthält.&#10;&#10;KI-generierte Inhalte können fehlerhaft sein.">
            <a:extLst>
              <a:ext uri="{FF2B5EF4-FFF2-40B4-BE49-F238E27FC236}">
                <a16:creationId xmlns:a16="http://schemas.microsoft.com/office/drawing/2014/main" id="{5D354501-3BFF-6440-5702-C64F04BF6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297" y="3307658"/>
            <a:ext cx="1228602" cy="2233822"/>
          </a:xfrm>
          <a:prstGeom prst="rect">
            <a:avLst/>
          </a:prstGeom>
        </p:spPr>
      </p:pic>
      <p:pic>
        <p:nvPicPr>
          <p:cNvPr id="14" name="Grafik 13" descr="Ein Bild, das Elektronik, Computerkomponenten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6B30D8AC-25CB-8DC9-7B69-C7A7727C1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513" y="5087251"/>
            <a:ext cx="1619317" cy="145519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D3227EC0-6C59-6CD2-5D53-172A65B2C243}"/>
              </a:ext>
            </a:extLst>
          </p:cNvPr>
          <p:cNvSpPr txBox="1"/>
          <p:nvPr/>
        </p:nvSpPr>
        <p:spPr>
          <a:xfrm>
            <a:off x="233265" y="6456784"/>
            <a:ext cx="5299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*Alle aufgeführten Bauteile stammen von Aliexpress</a:t>
            </a:r>
          </a:p>
        </p:txBody>
      </p:sp>
    </p:spTree>
    <p:extLst>
      <p:ext uri="{BB962C8B-B14F-4D97-AF65-F5344CB8AC3E}">
        <p14:creationId xmlns:p14="http://schemas.microsoft.com/office/powerpoint/2010/main" val="137953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Diagramm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7B82A2CC-6A98-31A3-AE4C-FB7D82868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2" t="12063" r="21627" b="12230"/>
          <a:stretch/>
        </p:blipFill>
        <p:spPr>
          <a:xfrm>
            <a:off x="2166061" y="-136062"/>
            <a:ext cx="7859877" cy="6994062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4DDF3DC-E437-73A9-3E48-A989147B64CA}"/>
              </a:ext>
            </a:extLst>
          </p:cNvPr>
          <p:cNvSpPr txBox="1"/>
          <p:nvPr/>
        </p:nvSpPr>
        <p:spPr>
          <a:xfrm>
            <a:off x="165619" y="641207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https://easyeda.com</a:t>
            </a:r>
          </a:p>
        </p:txBody>
      </p:sp>
    </p:spTree>
    <p:extLst>
      <p:ext uri="{BB962C8B-B14F-4D97-AF65-F5344CB8AC3E}">
        <p14:creationId xmlns:p14="http://schemas.microsoft.com/office/powerpoint/2010/main" val="404004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de-DE" sz="10000">
                <a:latin typeface="Impact" panose="020B0806030902050204" pitchFamily="34" charset="0"/>
              </a:rPr>
            </a:br>
            <a:r>
              <a:rPr lang="de-DE" sz="11100">
                <a:latin typeface="Impact" panose="020B0806030902050204" pitchFamily="34" charset="0"/>
              </a:rPr>
              <a:t>Programmierung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635"/>
            <a:ext cx="9144000" cy="1791056"/>
          </a:xfrm>
        </p:spPr>
        <p:txBody>
          <a:bodyPr>
            <a:noAutofit/>
          </a:bodyPr>
          <a:lstStyle/>
          <a:p>
            <a:r>
              <a:rPr lang="de-DE" sz="3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Hossein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917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Programmierung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533472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Mit </a:t>
            </a:r>
            <a:r>
              <a:rPr lang="de-DE" sz="25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ChatGPT</a:t>
            </a: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ein Überblick erstellt (nötige Tools usw.)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Verbindung zwischen ESP32 und PS5 Controller (Bluepad32)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Schnittstelle zwischen Elektronik und Code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32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1. Schritt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391180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Ziel definiert: Was soll der Roboter können?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KI gefragt (z.B. </a:t>
            </a:r>
            <a:r>
              <a:rPr lang="de-DE" sz="25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ChatGPT</a:t>
            </a: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/Claude): </a:t>
            </a:r>
            <a:r>
              <a:rPr lang="de-DE" sz="25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Weche</a:t>
            </a: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Komponenten brauche ich? Welche Bibliotheken? Welcher Ansatz?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Grobe Architektur skizziert: ESP32 -&gt; Bluetooth -&gt; PS5 Controller -&gt; Motorsteuerung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Offene Fragen gesammelt: Was muss ich noch recherchieren? 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44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2. Schritt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157914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Youtube</a:t>
            </a: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&amp; Dokumentation (Bluepad32) als Einstieg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Ersten Prototyp erstellt &amp; getestet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Stabile BT-Verbindung ohne MAC-Adresse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Alle Eingaben live auslesbar (Buttons, Achsen, Trigger)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Problem erkannt: Stick Drift / Rauschen bei Nullstellung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Lösung: </a:t>
            </a:r>
            <a:r>
              <a:rPr lang="de-DE" sz="25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Deadzone</a:t>
            </a: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+ Komplettauslenkung definiert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256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3. Schritt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148584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Verbindungs-Code als Basis genommen &amp; erweitert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Achsenwerte auf Motorgeschwindigkeit gemappt</a:t>
            </a:r>
          </a:p>
          <a:p>
            <a:pPr marL="514350" indent="-514350" algn="l">
              <a:buAutoNum type="arabicPeriod"/>
            </a:pPr>
            <a:r>
              <a:rPr lang="de-DE" sz="25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Deadzone</a:t>
            </a: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-&gt; Motoren stehen still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Komplettauslenkung -&gt; Maximale Motorleistung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Richtungssteuerung implementiert</a:t>
            </a:r>
          </a:p>
          <a:p>
            <a:pPr marL="514350" indent="-514350" algn="l">
              <a:buAutoNum type="arabicPeriod"/>
            </a:pPr>
            <a:endParaRPr lang="de-DE" sz="25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851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Code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1840674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Bibliotheken einbinden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Konstanten definieren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Controller Array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Callback Funktion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Setup()</a:t>
            </a:r>
          </a:p>
          <a:p>
            <a:pPr marL="514350" indent="-514350" algn="l">
              <a:buAutoNum type="arabicPeriod"/>
            </a:pPr>
            <a:r>
              <a:rPr lang="de-DE" sz="25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Loop()</a:t>
            </a:r>
          </a:p>
          <a:p>
            <a:pPr marL="514350" indent="-514350" algn="l">
              <a:buAutoNum type="arabicPeriod"/>
            </a:pPr>
            <a:endParaRPr lang="de-DE" sz="25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65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5655753" cy="685251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>
                <a:latin typeface="Impact"/>
              </a:rPr>
              <a:t>Bibliotheken </a:t>
            </a:r>
            <a:endParaRPr lang="de-DE" sz="4400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712100"/>
            <a:ext cx="5655753" cy="4341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Bluepad32.h :</a:t>
            </a:r>
          </a:p>
          <a:p>
            <a:pPr algn="l"/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Übernahme der Bluetooth Protokolle</a:t>
            </a:r>
            <a:endParaRPr lang="de-DE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402A94-63E3-FFF4-22A6-3E953185C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509" y="643467"/>
            <a:ext cx="4795768" cy="5571066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031837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76C39-DF74-5530-79F7-1B2647E41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B2048-1AEC-62F6-20D8-EA42E176B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5655753" cy="685251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>
                <a:latin typeface="Impact"/>
              </a:rPr>
              <a:t>Konstanten definieren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741B5A-919F-9358-3996-9D18060A0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712100"/>
            <a:ext cx="5655753" cy="4341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Definition: </a:t>
            </a:r>
            <a:endParaRPr lang="en-US">
              <a:latin typeface="Aptos" panose="02110004020202020204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Verbindung BTS7960 mit ESP32</a:t>
            </a:r>
            <a:endParaRPr lang="de-DE">
              <a:latin typeface="Liberation Sans"/>
            </a:endParaRP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PWM Frequenz</a:t>
            </a:r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PWM Resolution</a:t>
            </a:r>
            <a:endParaRPr lang="de-DE">
              <a:latin typeface="Liberation Sans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LEDC Kanäle</a:t>
            </a:r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Deadzone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72AEF0-4282-FDB5-116F-8D67C019C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509" y="643467"/>
            <a:ext cx="479576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35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7AB66-A339-E2E5-3E97-F26E299E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29BDE-2F39-9400-8321-4C95917BD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5655753" cy="685251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>
                <a:latin typeface="Impact"/>
              </a:rPr>
              <a:t>Controller Array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562216-D969-5C28-8AD3-798A13E73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712100"/>
            <a:ext cx="5655753" cy="4341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Gameptr</a:t>
            </a:r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-&gt; Pointer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Speicheradresse der Controller Daten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endParaRPr lang="de-DE">
              <a:latin typeface="Liberation Sans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l"/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BP32_MAX_GAMEPADS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Array</a:t>
            </a:r>
            <a:endParaRPr lang="de-DE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753E0A-F4D0-9BFA-1F7C-86E45737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509" y="643467"/>
            <a:ext cx="479576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58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C0FE4-7532-B7D8-25B4-A5604E59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BDE369-E778-F2A4-5AA8-EC048686B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51474" cy="716851"/>
          </a:xfrm>
        </p:spPr>
        <p:txBody>
          <a:bodyPr anchor="b">
            <a:normAutofit fontScale="90000"/>
          </a:bodyPr>
          <a:lstStyle/>
          <a:p>
            <a:pPr algn="l"/>
            <a:r>
              <a:rPr lang="de-DE" sz="4800">
                <a:latin typeface="Impact"/>
              </a:rPr>
              <a:t>Callback Funktion</a:t>
            </a:r>
            <a:endParaRPr lang="de-DE" sz="4800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EA6F04-A79F-3850-44E5-E45B51C1D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11828"/>
            <a:ext cx="3947683" cy="406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Aufruf der Funktion -&gt; Controller verbunden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FoundEmptySlot</a:t>
            </a: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 -&gt; </a:t>
            </a:r>
            <a:r>
              <a:rPr lang="de-DE" sz="2000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Reminder</a:t>
            </a: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Zählschleife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Nullptr</a:t>
            </a: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 -&gt; </a:t>
            </a:r>
            <a:r>
              <a:rPr lang="de-DE" sz="2000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Nullpointer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Aufruf der Eigenschaften des Controllers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Controller gefunden-&gt; Schleife wird beendet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51F1B241-9816-6192-4DA1-C27CEFB3F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50812"/>
            <a:ext cx="6846363" cy="400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4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AA5BA-D4B5-EAFA-9F11-6B0C4C9B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2C4BE8-CD2B-F3D8-EEB7-6FCA7A8B1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AB4155-FC41-6669-E71F-B58C1AB57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51474" cy="716851"/>
          </a:xfrm>
        </p:spPr>
        <p:txBody>
          <a:bodyPr anchor="b">
            <a:normAutofit fontScale="90000"/>
          </a:bodyPr>
          <a:lstStyle/>
          <a:p>
            <a:pPr algn="l"/>
            <a:r>
              <a:rPr lang="de-DE" sz="4800">
                <a:latin typeface="Impact"/>
              </a:rPr>
              <a:t>Callback Funktion</a:t>
            </a:r>
            <a:endParaRPr lang="de-DE" sz="4800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AAF12C-0E33-86F0-B52A-FD4BE7D0B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11828"/>
            <a:ext cx="3947683" cy="406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prüft ob der Slot gefunden wurde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Slot wird geleert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Schleife beendet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l"/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9917AF4-0CA3-7E38-71C7-3B3A8026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46" y="1720251"/>
            <a:ext cx="73628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36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8FD2E-3C32-3BB4-A165-EA715330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B2D635-B435-78D6-7D38-66F9324CE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51474" cy="659342"/>
          </a:xfrm>
        </p:spPr>
        <p:txBody>
          <a:bodyPr anchor="b">
            <a:normAutofit fontScale="90000"/>
          </a:bodyPr>
          <a:lstStyle/>
          <a:p>
            <a:pPr algn="l"/>
            <a:r>
              <a:rPr lang="de-DE" sz="4800">
                <a:latin typeface="Impact"/>
              </a:rPr>
              <a:t>Setup()</a:t>
            </a:r>
            <a:endParaRPr lang="de-DE" sz="4800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027E75-341B-E8AB-E75F-8637A8115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98092"/>
            <a:ext cx="3947683" cy="3982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Speichert wenn sich der Controller verbindet/ trennt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3F1F56A-FB81-F5AD-0A97-D947F4BA3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778709"/>
            <a:ext cx="6846363" cy="314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66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7CD73-9328-2BBB-73D3-56A1356C2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D999B90-707C-3350-E068-084701B93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7DEA3B-208F-A27F-854E-F7957DC42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51474" cy="659342"/>
          </a:xfrm>
        </p:spPr>
        <p:txBody>
          <a:bodyPr anchor="b">
            <a:normAutofit fontScale="90000"/>
          </a:bodyPr>
          <a:lstStyle/>
          <a:p>
            <a:pPr algn="l"/>
            <a:r>
              <a:rPr lang="de-DE" sz="4800">
                <a:latin typeface="Impact"/>
              </a:rPr>
              <a:t>PINS, PWM &amp; LEDC</a:t>
            </a:r>
            <a:endParaRPr lang="de-DE" sz="4800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6869B2-AC0E-B0DA-AB1E-8DE60E3C1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98092"/>
            <a:ext cx="3947683" cy="3982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Pin 27 als Ausgang</a:t>
            </a:r>
            <a:endParaRPr lang="de-DE" sz="2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de-DE" sz="16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Setzt Pin auf HIGH(3,3V)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 err="1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LEDC Kanäle</a:t>
            </a: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 werden konfiguriert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Kanal 0 wird mit Pin 33 verbunden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F32F579-E8BF-5DB1-B6D3-5847012C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593" y="1115773"/>
            <a:ext cx="6535228" cy="477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29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E58D3-5AFC-77A2-2AF5-BC9B757C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33AC21B-43DF-F1B1-BA01-127EF5BB8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BF067F-9004-2D37-D4DC-840758B73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51474" cy="659342"/>
          </a:xfrm>
        </p:spPr>
        <p:txBody>
          <a:bodyPr anchor="b">
            <a:normAutofit fontScale="90000"/>
          </a:bodyPr>
          <a:lstStyle/>
          <a:p>
            <a:pPr algn="l"/>
            <a:r>
              <a:rPr lang="de-DE" sz="4800">
                <a:latin typeface="Impact"/>
              </a:rPr>
              <a:t>loop</a:t>
            </a:r>
            <a:endParaRPr lang="de-DE" sz="4800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A4AEAA-3F96-2767-AF20-D60476E2B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98092"/>
            <a:ext cx="3947683" cy="3982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  <a:ea typeface="Liberation Sans" panose="020B0604020202020204" pitchFamily="34" charset="0"/>
                <a:cs typeface="Liberation Sans" panose="020B0604020202020204" pitchFamily="34" charset="0"/>
              </a:rPr>
              <a:t>ständiges Update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 err="1">
                <a:latin typeface="Liberation Sans"/>
              </a:rPr>
              <a:t>Nach belegten Slot</a:t>
            </a:r>
            <a:r>
              <a:rPr lang="de-DE" sz="2000">
                <a:latin typeface="Liberation Sans"/>
              </a:rPr>
              <a:t> suchen -&gt; </a:t>
            </a:r>
            <a:r>
              <a:rPr lang="de-DE" sz="2000" err="1">
                <a:latin typeface="Liberation Sans"/>
              </a:rPr>
              <a:t>Umbennenung</a:t>
            </a:r>
            <a:r>
              <a:rPr lang="de-DE" sz="2000">
                <a:latin typeface="Liberation Sans"/>
              </a:rPr>
              <a:t> -&gt; </a:t>
            </a:r>
            <a:r>
              <a:rPr lang="de-DE" sz="2000" err="1">
                <a:latin typeface="Liberation Sans"/>
              </a:rPr>
              <a:t>myGamepad</a:t>
            </a:r>
            <a:endParaRPr lang="de-DE" sz="2000">
              <a:latin typeface="Liberation Sans"/>
            </a:endParaRP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</a:rPr>
              <a:t>Doppelprüfung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de-DE" sz="1600">
                <a:latin typeface="Liberation Sans"/>
              </a:rPr>
              <a:t>Controller im Slot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de-DE" sz="1600">
                <a:latin typeface="Liberation Sans"/>
              </a:rPr>
              <a:t>Controller verbunden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de-DE" sz="2000">
                <a:latin typeface="Liberation Sans"/>
              </a:rPr>
              <a:t>Werte aus den Sticks ablesen -&gt; Methode </a:t>
            </a:r>
            <a:r>
              <a:rPr lang="de-DE" sz="2000" err="1">
                <a:latin typeface="Liberation Sans"/>
              </a:rPr>
              <a:t>axis</a:t>
            </a:r>
            <a:r>
              <a:rPr lang="de-DE" sz="2000">
                <a:latin typeface="Liberation Sans"/>
              </a:rPr>
              <a:t> -&gt; myGamepad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endParaRPr lang="de-DE" sz="2000">
              <a:latin typeface="Liberation Sans"/>
            </a:endParaRPr>
          </a:p>
          <a:p>
            <a:pPr marL="342900" indent="-342900" algn="l">
              <a:buFont typeface="Calibri" panose="020B0604020202020204" pitchFamily="34" charset="0"/>
              <a:buChar char="-"/>
            </a:pPr>
            <a:endParaRPr lang="de-DE" sz="2000">
              <a:latin typeface="Liberation Sans"/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8D26972-4E26-35F9-A2BD-32ACFE8A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62" y="1969698"/>
            <a:ext cx="6739566" cy="360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85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2490E-1C29-27CF-293A-91692FF7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25E7870-7979-9F7D-26F1-F223BACB1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4295AD-2B0B-561E-C4D5-B8CC3245B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51474" cy="659342"/>
          </a:xfrm>
        </p:spPr>
        <p:txBody>
          <a:bodyPr anchor="b">
            <a:normAutofit fontScale="90000"/>
          </a:bodyPr>
          <a:lstStyle/>
          <a:p>
            <a:pPr algn="l"/>
            <a:r>
              <a:rPr lang="de-DE" sz="4800">
                <a:latin typeface="Impact"/>
              </a:rPr>
              <a:t>Motorsteuerung</a:t>
            </a:r>
            <a:endParaRPr lang="de-DE" sz="4800" err="1">
              <a:latin typeface="Impact" panose="020B080603090205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389CF5-E43E-7F6E-48FC-3D25BDD1B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98092"/>
            <a:ext cx="3947683" cy="39829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 err="1"/>
              <a:t>Werte</a:t>
            </a:r>
            <a:r>
              <a:rPr lang="en-US"/>
              <a:t> von Controller in PWM </a:t>
            </a:r>
            <a:r>
              <a:rPr lang="en-US" err="1"/>
              <a:t>Werte</a:t>
            </a:r>
            <a:r>
              <a:rPr lang="en-US"/>
              <a:t> </a:t>
            </a:r>
            <a:r>
              <a:rPr lang="en-US" err="1"/>
              <a:t>umwandeln</a:t>
            </a:r>
            <a:endParaRPr lang="en-US"/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 err="1"/>
              <a:t>Vorwärts</a:t>
            </a:r>
            <a:endParaRPr lang="en-US"/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CH_L_FWD speed</a:t>
            </a: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 err="1"/>
              <a:t>Rückwärts</a:t>
            </a:r>
            <a:endParaRPr lang="en-US"/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CH_L_BWD speed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3B4D7E4-9929-F21B-C209-69EF31DD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709" y="1779108"/>
            <a:ext cx="7130091" cy="39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17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de-DE" sz="10000">
                <a:latin typeface="Impact" panose="020B0806030902050204" pitchFamily="34" charset="0"/>
              </a:rPr>
            </a:br>
            <a:r>
              <a:rPr lang="de-DE" sz="10000">
                <a:latin typeface="Impact" panose="020B0806030902050204" pitchFamily="34" charset="0"/>
              </a:rPr>
              <a:t>Allgemeines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136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Allgemeines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C315D31-345E-FA34-807F-3462BB6049B9}"/>
              </a:ext>
            </a:extLst>
          </p:cNvPr>
          <p:cNvSpPr txBox="1"/>
          <p:nvPr/>
        </p:nvSpPr>
        <p:spPr>
          <a:xfrm>
            <a:off x="1861457" y="2644170"/>
            <a:ext cx="84690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500" err="1"/>
              <a:t>Github</a:t>
            </a:r>
            <a:r>
              <a:rPr lang="de-DE" sz="2500"/>
              <a:t> als Kommunikationsplattform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500"/>
              <a:t>Ungelöste Probleme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500"/>
              <a:t>Arbeitsteilung</a:t>
            </a:r>
          </a:p>
        </p:txBody>
      </p:sp>
    </p:spTree>
    <p:extLst>
      <p:ext uri="{BB962C8B-B14F-4D97-AF65-F5344CB8AC3E}">
        <p14:creationId xmlns:p14="http://schemas.microsoft.com/office/powerpoint/2010/main" val="2401350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3"/>
            <a:ext cx="9144000" cy="945272"/>
          </a:xfrm>
        </p:spPr>
        <p:txBody>
          <a:bodyPr>
            <a:normAutofit/>
          </a:bodyPr>
          <a:lstStyle/>
          <a:p>
            <a:r>
              <a:rPr lang="de-DE">
                <a:latin typeface="Impact" panose="020B0806030902050204" pitchFamily="34" charset="0"/>
              </a:rPr>
              <a:t>Quellen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3713" y="1637944"/>
            <a:ext cx="9144000" cy="1791056"/>
          </a:xfrm>
        </p:spPr>
        <p:txBody>
          <a:bodyPr>
            <a:noAutofit/>
          </a:bodyPr>
          <a:lstStyle/>
          <a:p>
            <a:pPr algn="l"/>
            <a:r>
              <a:rPr lang="de-DE" sz="3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Code Dokumentation:</a:t>
            </a:r>
          </a:p>
          <a:p>
            <a:pPr algn="l"/>
            <a:r>
              <a:rPr lang="de-DE" sz="2500">
                <a:ea typeface="+mn-lt"/>
                <a:cs typeface="+mn-lt"/>
                <a:hlinkClick r:id="rId2"/>
              </a:rPr>
              <a:t>https://bluepad32.readthedocs.io/en/latest/plat_arduino/</a:t>
            </a:r>
            <a:endParaRPr lang="de-DE" sz="2500">
              <a:ea typeface="+mn-lt"/>
              <a:cs typeface="+mn-lt"/>
            </a:endParaRPr>
          </a:p>
          <a:p>
            <a:pPr algn="l"/>
            <a:r>
              <a:rPr lang="de-DE" sz="3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Zusätzliche Board </a:t>
            </a:r>
            <a:r>
              <a:rPr lang="de-DE" sz="300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URL‘s</a:t>
            </a:r>
            <a:r>
              <a:rPr lang="de-DE" sz="3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:</a:t>
            </a:r>
          </a:p>
          <a:p>
            <a:pPr algn="l"/>
            <a:r>
              <a:rPr lang="de-DE" sz="2500">
                <a:ea typeface="+mn-lt"/>
                <a:cs typeface="+mn-lt"/>
                <a:hlinkClick r:id="rId3"/>
              </a:rPr>
              <a:t>https://raw.githubusercontent.com/espressif/arduino-esp32/gh-pages/package_esp32_index.json</a:t>
            </a:r>
            <a:endParaRPr lang="de-DE" sz="2500">
              <a:ea typeface="+mn-lt"/>
              <a:cs typeface="+mn-lt"/>
            </a:endParaRPr>
          </a:p>
          <a:p>
            <a:pPr algn="l"/>
            <a:r>
              <a:rPr lang="de-DE" sz="2500">
                <a:ea typeface="+mn-lt"/>
                <a:cs typeface="+mn-lt"/>
                <a:hlinkClick r:id="rId4"/>
              </a:rPr>
              <a:t>https://raw.githubusercontent.com/ricardoquesada/esp32-arduino-lib-builder/master/bluepad32_files/package_esp32_bluepad32_index.json</a:t>
            </a:r>
            <a:endParaRPr lang="de-DE" sz="2500">
              <a:ea typeface="+mn-lt"/>
              <a:cs typeface="+mn-lt"/>
            </a:endParaRPr>
          </a:p>
          <a:p>
            <a:pPr algn="l"/>
            <a:endParaRPr lang="de-DE" sz="3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l"/>
            <a:endParaRPr lang="de-DE" sz="30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02921" y="1034888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731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C3F6D-023F-BF42-C2FE-FA081196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B6254-D2BF-277F-12D1-FEE3BDDE2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5655753" cy="685251"/>
          </a:xfrm>
        </p:spPr>
        <p:txBody>
          <a:bodyPr>
            <a:normAutofit fontScale="90000"/>
          </a:bodyPr>
          <a:lstStyle/>
          <a:p>
            <a:pPr algn="l"/>
            <a:r>
              <a:rPr lang="de-DE" sz="4400">
                <a:latin typeface="Impact"/>
              </a:rPr>
              <a:t>PWM und LEDC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EB4DDC-B5CF-CC7D-2E54-64894D478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712100"/>
            <a:ext cx="5655753" cy="4341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de-DE">
              <a:latin typeface="Liberation Sans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6" name="Picture 5" descr="A diagram of a cycle&#10;&#10;AI-generated content may be incorrect.">
            <a:extLst>
              <a:ext uri="{FF2B5EF4-FFF2-40B4-BE49-F238E27FC236}">
                <a16:creationId xmlns:a16="http://schemas.microsoft.com/office/drawing/2014/main" id="{2C98E809-6EC9-4960-B790-7568D1259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359" y="348112"/>
            <a:ext cx="5172075" cy="3257550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7" name="Picture 6" descr="A diagram of a system&#10;&#10;AI-generated content may be incorrect.">
            <a:extLst>
              <a:ext uri="{FF2B5EF4-FFF2-40B4-BE49-F238E27FC236}">
                <a16:creationId xmlns:a16="http://schemas.microsoft.com/office/drawing/2014/main" id="{EEE0140E-E9B8-4323-7754-CF6BD3D49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098" y="3756803"/>
            <a:ext cx="5187351" cy="257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08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</vt:lpstr>
      <vt:lpstr>Kettenfahrzeug</vt:lpstr>
      <vt:lpstr>Inhaltsverzeichnis</vt:lpstr>
      <vt:lpstr>Konstruktion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Elektronik</vt:lpstr>
      <vt:lpstr>Elektronik</vt:lpstr>
      <vt:lpstr>PowerPoint Presentation</vt:lpstr>
      <vt:lpstr> Programmierung</vt:lpstr>
      <vt:lpstr>Programmierung</vt:lpstr>
      <vt:lpstr>1. Schritt</vt:lpstr>
      <vt:lpstr>2. Schritt</vt:lpstr>
      <vt:lpstr>3. Schritt</vt:lpstr>
      <vt:lpstr>Code</vt:lpstr>
      <vt:lpstr>Bibliotheken </vt:lpstr>
      <vt:lpstr>Konstanten definieren</vt:lpstr>
      <vt:lpstr>Controller Array</vt:lpstr>
      <vt:lpstr>Callback Funktion</vt:lpstr>
      <vt:lpstr>Callback Funktion</vt:lpstr>
      <vt:lpstr>Setup()</vt:lpstr>
      <vt:lpstr>PINS, PWM &amp; LEDC</vt:lpstr>
      <vt:lpstr>loop</vt:lpstr>
      <vt:lpstr>Motorsteuerung</vt:lpstr>
      <vt:lpstr> Allgemeines</vt:lpstr>
      <vt:lpstr>Allgemeines</vt:lpstr>
      <vt:lpstr>Quellen</vt:lpstr>
      <vt:lpstr>PWM und LEDC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Timmann</dc:creator>
  <cp:revision>4</cp:revision>
  <dcterms:created xsi:type="dcterms:W3CDTF">2026-03-20T17:23:07Z</dcterms:created>
  <dcterms:modified xsi:type="dcterms:W3CDTF">2026-03-25T21:48:38Z</dcterms:modified>
</cp:coreProperties>
</file>